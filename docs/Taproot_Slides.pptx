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6615A"/>
                </a:solidFill>
                <a:latin typeface="Calibri"/>
              </a:defRPr>
            </a:pPr>
            <a:r>
              <a:rPr sz="1300" b="0" i="0" u="none" strike="noStrike">
                <a:solidFill>
                  <a:srgbClr val="56615A"/>
                </a:solidFill>
                <a:latin typeface="Calibri"/>
              </a:rPr>
              <a:t>National average maths score (NAS 2021)</a:t>
            </a:r>
          </a:p>
        </c:rich>
      </c:tx>
      <c:layout/>
      <c:overlay val="0"/>
    </c:title>
    <c:autoTitleDeleted val="0"/>
    <c:plotArea>
      <c:layout/>
      <c:barChart>
        <c:barDir val="col"/>
        <c:grouping val="clustered"/>
        <c:varyColors val="0"/>
        <c:ser>
          <c:idx val="0"/>
          <c:order val="0"/>
          <c:tx>
            <c:strRef>
              <c:f>Sheet1!$B$1</c:f>
              <c:strCache>
                <c:ptCount val="1"/>
                <c:pt idx="0">
                  <c:v>Average maths score</c:v>
                </c:pt>
              </c:strCache>
            </c:strRef>
          </c:tx>
          <c:spPr>
            <a:solidFill>
              <a:srgbClr val="2F6B4F"/>
            </a:solidFill>
            <a:effectLst/>
          </c:spPr>
          <c:invertIfNegative val="0"/>
          <c:dLbls>
            <c:numFmt formatCode="0&quot;%&quot;" sourceLinked="0"/>
            <c:txPr>
              <a:bodyPr/>
              <a:lstStyle/>
              <a:p>
                <a:pPr>
                  <a:defRPr b="0" i="0" strike="noStrike" sz="1400" u="none">
                    <a:solidFill>
                      <a:srgbClr val="1D2721"/>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Class 3</c:v>
                  </c:pt>
                  <c:pt idx="1">
                    <c:v>Class 5</c:v>
                  </c:pt>
                  <c:pt idx="2">
                    <c:v>Class 8</c:v>
                  </c:pt>
                  <c:pt idx="3">
                    <c:v>Class 10</c:v>
                  </c:pt>
                </c:lvl>
              </c:multiLvlStrCache>
            </c:multiLvlStrRef>
          </c:cat>
          <c:val>
            <c:numRef>
              <c:f>Sheet1!$B$2:$B$5</c:f>
              <c:numCache>
                <c:formatCode>General</c:formatCode>
                <c:ptCount val="4"/>
                <c:pt idx="0">
                  <c:v>57</c:v>
                </c:pt>
                <c:pt idx="1">
                  <c:v>44</c:v>
                </c:pt>
                <c:pt idx="2">
                  <c:v>36</c:v>
                </c:pt>
                <c:pt idx="3">
                  <c:v>32</c:v>
                </c:pt>
              </c:numCache>
            </c:numRef>
          </c:val>
        </c:ser>
        <c:dLbls>
          <c:numFmt formatCode="0&quot;%&quot;" sourceLinked="0"/>
          <c:txPr>
            <a:bodyPr/>
            <a:lstStyle/>
            <a:p>
              <a:pPr>
                <a:defRPr b="0" i="0" strike="noStrike" sz="1400" u="none">
                  <a:solidFill>
                    <a:srgbClr val="1D2721"/>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6615A"/>
                </a:solidFill>
                <a:latin typeface="Calibri"/>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6615A"/>
                </a:solidFill>
                <a:latin typeface="Calibri"/>
              </a:defRPr>
            </a:pPr>
            <a:r>
              <a:rPr sz="1300" b="0" i="0" u="none" strike="noStrike">
                <a:solidFill>
                  <a:srgbClr val="56615A"/>
                </a:solidFill>
                <a:latin typeface="Calibri"/>
              </a:rPr>
              <a:t>First answer is the true root gap</a:t>
            </a:r>
          </a:p>
        </c:rich>
      </c:tx>
      <c:layout/>
      <c:overlay val="0"/>
    </c:title>
    <c:autoTitleDeleted val="0"/>
    <c:plotArea>
      <c:layout/>
      <c:barChart>
        <c:barDir val="bar"/>
        <c:grouping val="clustered"/>
        <c:varyColors val="0"/>
        <c:ser>
          <c:idx val="0"/>
          <c:order val="0"/>
          <c:tx>
            <c:strRef>
              <c:f>Sheet1!$B$1</c:f>
              <c:strCache>
                <c:ptCount val="1"/>
                <c:pt idx="0">
                  <c:v>First answer is the true root gap</c:v>
                </c:pt>
              </c:strCache>
            </c:strRef>
          </c:tx>
          <c:spPr>
            <a:solidFill>
              <a:srgbClr val="2F6B4F"/>
            </a:solidFill>
            <a:effectLst/>
          </c:spPr>
          <c:invertIfNegative val="0"/>
          <c:dLbls>
            <c:numFmt formatCode="0.0&quot;%&quot;" sourceLinked="0"/>
            <c:txPr>
              <a:bodyPr/>
              <a:lstStyle/>
              <a:p>
                <a:pPr>
                  <a:defRPr b="0" i="0" strike="noStrike" sz="1400" u="none">
                    <a:solidFill>
                      <a:srgbClr val="1D2721"/>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 normal chapter test</c:v>
                  </c:pt>
                  <c:pt idx="1">
                    <c:v>Walk down one level at a time</c:v>
                  </c:pt>
                  <c:pt idx="2">
                    <c:v>Test every skill (35.5 questions)</c:v>
                  </c:pt>
                  <c:pt idx="3">
                    <c:v>Taproot (13.8 questions)</c:v>
                  </c:pt>
                </c:lvl>
              </c:multiLvlStrCache>
            </c:multiLvlStrRef>
          </c:cat>
          <c:val>
            <c:numRef>
              <c:f>Sheet1!$B$2:$B$5</c:f>
              <c:numCache>
                <c:formatCode>General</c:formatCode>
                <c:ptCount val="4"/>
                <c:pt idx="0">
                  <c:v>4.7</c:v>
                </c:pt>
                <c:pt idx="1">
                  <c:v>74.9</c:v>
                </c:pt>
                <c:pt idx="2">
                  <c:v>91.4</c:v>
                </c:pt>
                <c:pt idx="3">
                  <c:v>85.4</c:v>
                </c:pt>
              </c:numCache>
            </c:numRef>
          </c:val>
        </c:ser>
        <c:dLbls>
          <c:numFmt formatCode="0.0&quot;%&quot;" sourceLinked="0"/>
          <c:txPr>
            <a:bodyPr/>
            <a:lstStyle/>
            <a:p>
              <a:pPr>
                <a:defRPr b="0" i="0" strike="noStrike" sz="1400" u="none">
                  <a:solidFill>
                    <a:srgbClr val="1D2721"/>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D2721"/>
                </a:solidFill>
                <a:latin typeface="Calibri"/>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is a five-minute check-up for maths and science. A student names the chapter they're stuck on, and Taproot traces the trouble down to the earlier skill where it really starts, then helps them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Maths is built in layers. National Achievement Survey 2021: average maths scores drop from 57% in Class 3 to 32% in Class 10. School tests only say a student is weak in a chapter, never why. And we know targeting the real level works: the Mindspark trial in Delhi raised maths scores by 0.37 standard deviations in four and a half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flow. The student picks a chapter or pastes a problem, answers about fourteen quick questions, and gets a report that draws the chapter as a plant with its prerequisite skills as roots. The root gap is highlighted, with the misconception behind it and a confidence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wrong option is the answer a specific misconception produces, Taproot knows why the student went wrong. The repair lesson starts from that mix-up, then a worked example, three practice questions, and a climb back up to the chapter they were stuck on. It suggests a re-check three days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diagnosis itself isn't a black box: it's a sequential evidence test and a binary search over the skill tree. AI comes in to cover any topic: one model builds the tree and writes questions, and a model from a different family solves them without the answer key. Only questions where both agree are shown, labelled as AI-written.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the method on 10,000 simulated students with hidden gaps, careless slips and lucky guesses. Taproot's first answer is the true root gap 85% of the time in about 14 questions. A normal chapter test finds it under 5% of the time. Testing every skill is slightly more accurate but takes 35 questions and raises false alarms for 18% of students with no gap. 90 plus unit tests and 27 browser tests with accessibility scans back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teachers there's a class dashboard. A teacher signs in, makes a class and shares a six-character code. Each check-up a student finishes adds its outcome to the dashboard, ranked by root gap, so one lesson can fix the skill most of the class is missing. Students never create accounts and no names or answers are stored. It's built for accessibility: full keyboard use, screen-reader friendly maths and dark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honest about the limits: the evidence is from simulation, guessing still causes some misses, and only five chapters are hand-checked. With another month we'd pilot in Karnataka classrooms against teachers' judgement, add Kannada and more chapters, and let teachers assign chapters and track gaps closing. Try it at the link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6615A"/>
                </a:solidFill>
                <a:latin typeface="Calibri" pitchFamily="34" charset="0"/>
                <a:ea typeface="Calibri" pitchFamily="34" charset="-122"/>
                <a:cs typeface="Calibri" pitchFamily="34" charset="-120"/>
              </a:rPr>
              <a:t>Taproot · Craft N Code Karnataka 2026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15A"/>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3D2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15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aft-n-code-karnataka.vercel.app" TargetMode="External"/><Relationship Id="rId1" Type="http://schemas.openxmlformats.org/officeDocument/2006/relationships/image" Target="../media/image-1-1.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raft-n-code-karnataka.vercel.app" TargetMode="External"/><Relationship Id="rId2" Type="http://schemas.openxmlformats.org/officeDocument/2006/relationships/hyperlink" Target="https://github.com/aditya-sridhar-git/Craft-N-Code-Karnataka" TargetMode="Externa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960120"/>
            <a:ext cx="1051560" cy="1051560"/>
          </a:xfrm>
          <a:prstGeom prst="rect">
            <a:avLst/>
          </a:prstGeom>
        </p:spPr>
      </p:pic>
      <p:sp>
        <p:nvSpPr>
          <p:cNvPr id="3" name="Text 0"/>
          <p:cNvSpPr txBox="1"/>
          <p:nvPr/>
        </p:nvSpPr>
        <p:spPr>
          <a:xfrm>
            <a:off x="640080" y="2103120"/>
            <a:ext cx="7315200" cy="8229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Taproot</a:t>
            </a:r>
            <a:endParaRPr lang="en-US" sz="5400" dirty="0"/>
          </a:p>
        </p:txBody>
      </p:sp>
      <p:sp>
        <p:nvSpPr>
          <p:cNvPr id="4" name="Text 1"/>
          <p:cNvSpPr txBox="1"/>
          <p:nvPr/>
        </p:nvSpPr>
        <p:spPr>
          <a:xfrm>
            <a:off x="640080" y="2926080"/>
            <a:ext cx="7315200" cy="457200"/>
          </a:xfrm>
          <a:prstGeom prst="rect">
            <a:avLst/>
          </a:prstGeom>
          <a:noFill/>
          <a:ln/>
        </p:spPr>
        <p:txBody>
          <a:bodyPr wrap="square" lIns="0" tIns="0" rIns="0" bIns="0" rtlCol="0" anchor="ctr"/>
          <a:lstStyle/>
          <a:p>
            <a:pPr indent="0" marL="0">
              <a:buNone/>
            </a:pPr>
            <a:r>
              <a:rPr lang="en-US" sz="2000" dirty="0">
                <a:solidFill>
                  <a:srgbClr val="D9E8DE"/>
                </a:solidFill>
                <a:latin typeface="Calibri" pitchFamily="34" charset="0"/>
                <a:ea typeface="Calibri" pitchFamily="34" charset="-122"/>
                <a:cs typeface="Calibri" pitchFamily="34" charset="-120"/>
              </a:rPr>
              <a:t>Find the real reason a student is stuck in maths and science, then fix it</a:t>
            </a:r>
            <a:endParaRPr lang="en-US" sz="2000" dirty="0"/>
          </a:p>
        </p:txBody>
      </p:sp>
      <p:sp>
        <p:nvSpPr>
          <p:cNvPr id="5" name="Text 2"/>
          <p:cNvSpPr txBox="1"/>
          <p:nvPr/>
        </p:nvSpPr>
        <p:spPr>
          <a:xfrm>
            <a:off x="640080" y="3931920"/>
            <a:ext cx="5486400" cy="274320"/>
          </a:xfrm>
          <a:prstGeom prst="rect">
            <a:avLst/>
          </a:prstGeom>
          <a:noFill/>
          <a:ln/>
        </p:spPr>
        <p:txBody>
          <a:bodyPr wrap="square" lIns="0" tIns="0" rIns="0" bIns="0" rtlCol="0" anchor="ctr"/>
          <a:lstStyle/>
          <a:p>
            <a:pPr indent="0" marL="0">
              <a:buNone/>
            </a:pPr>
            <a:r>
              <a:rPr lang="en-US" sz="1300" dirty="0">
                <a:solidFill>
                  <a:srgbClr val="82C9A1"/>
                </a:solidFill>
                <a:latin typeface="Calibri" pitchFamily="34" charset="0"/>
                <a:ea typeface="Calibri" pitchFamily="34" charset="-122"/>
                <a:cs typeface="Calibri" pitchFamily="34" charset="-120"/>
              </a:rPr>
              <a:t>AI for Education · Craft N Code Karnataka 2026</a:t>
            </a:r>
            <a:endParaRPr lang="en-US" sz="1300" dirty="0"/>
          </a:p>
        </p:txBody>
      </p:sp>
      <p:sp>
        <p:nvSpPr>
          <p:cNvPr id="6" name="Text 3">
            <a:hlinkClick r:id="rId2" tooltip=""/>
          </p:cNvPr>
          <p:cNvSpPr txBox="1"/>
          <p:nvPr/>
        </p:nvSpPr>
        <p:spPr>
          <a:xfrm>
            <a:off x="640080" y="4206240"/>
            <a:ext cx="5486400" cy="274320"/>
          </a:xfrm>
          <a:prstGeom prst="rect">
            <a:avLst/>
          </a:prstGeom>
          <a:noFill/>
          <a:ln/>
        </p:spPr>
        <p:txBody>
          <a:bodyPr wrap="square" lIns="0" tIns="0" rIns="0" bIns="0" rtlCol="0" anchor="ctr"/>
          <a:lstStyle/>
          <a:p>
            <a:pPr indent="0" marL="0">
              <a:buNone/>
            </a:pPr>
            <a:r>
              <a:rPr lang="en-US" sz="1300" b="1"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craft-n-code-karnataka.vercel.app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D2721"/>
                </a:solidFill>
                <a:latin typeface="Cambria" pitchFamily="34" charset="0"/>
                <a:ea typeface="Cambria" pitchFamily="34" charset="-122"/>
                <a:cs typeface="Cambria" pitchFamily="34" charset="-120"/>
              </a:rPr>
              <a:t>Maths scores fall from 57% in Class 3 to 32% in Class 10 as gaps pile up</a:t>
            </a:r>
            <a:endParaRPr lang="en-US" sz="2400" dirty="0"/>
          </a:p>
        </p:txBody>
      </p:sp>
      <p:graphicFrame>
        <p:nvGraphicFramePr>
          <p:cNvPr id="3" name="Chart 0" descr=""/>
          <p:cNvGraphicFramePr/>
          <p:nvPr/>
        </p:nvGraphicFramePr>
        <p:xfrm>
          <a:off x="365760" y="1234440"/>
          <a:ext cx="4846320" cy="32461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486400" y="1325880"/>
            <a:ext cx="3200400" cy="1188720"/>
          </a:xfrm>
          <a:prstGeom prst="roundRect">
            <a:avLst>
              <a:gd name="adj" fmla="val 9231"/>
            </a:avLst>
          </a:prstGeom>
          <a:solidFill>
            <a:srgbClr val="FBE6E3"/>
          </a:solidFill>
          <a:ln w="12700">
            <a:solidFill>
              <a:srgbClr val="FBE6E3"/>
            </a:solidFill>
            <a:prstDash val="solid"/>
          </a:ln>
        </p:spPr>
      </p:sp>
      <p:sp>
        <p:nvSpPr>
          <p:cNvPr id="5" name="Text 2"/>
          <p:cNvSpPr txBox="1"/>
          <p:nvPr/>
        </p:nvSpPr>
        <p:spPr>
          <a:xfrm>
            <a:off x="5669280" y="1463040"/>
            <a:ext cx="2834640" cy="1143000"/>
          </a:xfrm>
          <a:prstGeom prst="rect">
            <a:avLst/>
          </a:prstGeom>
          <a:noFill/>
          <a:ln/>
        </p:spPr>
        <p:txBody>
          <a:bodyPr wrap="square" lIns="0" tIns="0" rIns="0" bIns="0" rtlCol="0" anchor="t"/>
          <a:lstStyle/>
          <a:p>
            <a:pPr indent="0" marL="0">
              <a:buNone/>
            </a:pPr>
            <a:r>
              <a:rPr lang="en-US" sz="1600" b="1" dirty="0">
                <a:solidFill>
                  <a:srgbClr val="1D2721"/>
                </a:solidFill>
                <a:latin typeface="Calibri" pitchFamily="34" charset="0"/>
                <a:ea typeface="Calibri" pitchFamily="34" charset="-122"/>
                <a:cs typeface="Calibri" pitchFamily="34" charset="-120"/>
              </a:rPr>
              <a:t>Tests say “weak in this chapter”</a:t>
            </a:r>
            <a:endParaRPr lang="en-US" sz="1600" dirty="0"/>
          </a:p>
          <a:p>
            <a:pPr indent="0" marL="0">
              <a:buNone/>
            </a:pPr>
            <a:r>
              <a:rPr lang="en-US" sz="1400" dirty="0">
                <a:solidFill>
                  <a:srgbClr val="1D2721"/>
                </a:solidFill>
                <a:latin typeface="Calibri" pitchFamily="34" charset="0"/>
                <a:ea typeface="Calibri" pitchFamily="34" charset="-122"/>
                <a:cs typeface="Calibri" pitchFamily="34" charset="-120"/>
              </a:rPr>
              <a:t>never why. Students re-read the chapter, but the gap is in an older skill.</a:t>
            </a:r>
            <a:endParaRPr lang="en-US" sz="1600" dirty="0"/>
          </a:p>
        </p:txBody>
      </p:sp>
      <p:sp>
        <p:nvSpPr>
          <p:cNvPr id="6" name="Shape 3"/>
          <p:cNvSpPr/>
          <p:nvPr/>
        </p:nvSpPr>
        <p:spPr>
          <a:xfrm>
            <a:off x="5486400" y="2697480"/>
            <a:ext cx="3200400" cy="1691640"/>
          </a:xfrm>
          <a:prstGeom prst="roundRect">
            <a:avLst>
              <a:gd name="adj" fmla="val 6486"/>
            </a:avLst>
          </a:prstGeom>
          <a:solidFill>
            <a:srgbClr val="E3EFE7"/>
          </a:solidFill>
          <a:ln w="12700">
            <a:solidFill>
              <a:srgbClr val="E3EFE7"/>
            </a:solidFill>
            <a:prstDash val="solid"/>
          </a:ln>
        </p:spPr>
      </p:sp>
      <p:sp>
        <p:nvSpPr>
          <p:cNvPr id="7" name="Text 4"/>
          <p:cNvSpPr txBox="1"/>
          <p:nvPr/>
        </p:nvSpPr>
        <p:spPr>
          <a:xfrm>
            <a:off x="5669280" y="2880360"/>
            <a:ext cx="2834640" cy="1417320"/>
          </a:xfrm>
          <a:prstGeom prst="rect">
            <a:avLst/>
          </a:prstGeom>
          <a:noFill/>
          <a:ln/>
        </p:spPr>
        <p:txBody>
          <a:bodyPr wrap="square" lIns="0" tIns="0" rIns="0" bIns="0" rtlCol="0" anchor="t"/>
          <a:lstStyle/>
          <a:p>
            <a:pPr indent="0" marL="0">
              <a:buNone/>
            </a:pPr>
            <a:r>
              <a:rPr lang="en-US" sz="2000" b="1" dirty="0">
                <a:solidFill>
                  <a:srgbClr val="2F6B4F"/>
                </a:solidFill>
                <a:latin typeface="Calibri" pitchFamily="34" charset="0"/>
                <a:ea typeface="Calibri" pitchFamily="34" charset="-122"/>
                <a:cs typeface="Calibri" pitchFamily="34" charset="-120"/>
              </a:rPr>
              <a:t>+0.37 SD in 4.5 months</a:t>
            </a:r>
            <a:endParaRPr lang="en-US" sz="2000" dirty="0"/>
          </a:p>
          <a:p>
            <a:pPr indent="0" marL="0">
              <a:buNone/>
            </a:pPr>
            <a:r>
              <a:rPr lang="en-US" sz="1300" dirty="0">
                <a:solidFill>
                  <a:srgbClr val="1D2721"/>
                </a:solidFill>
                <a:latin typeface="Calibri" pitchFamily="34" charset="0"/>
                <a:ea typeface="Calibri" pitchFamily="34" charset="-122"/>
                <a:cs typeface="Calibri" pitchFamily="34" charset="-120"/>
              </a:rPr>
              <a:t>when teaching matched each student's real level, not their class (Muralidharan et al., AER 2019)</a:t>
            </a:r>
            <a:endParaRPr lang="en-US" sz="2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15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D2721"/>
                </a:solidFill>
                <a:latin typeface="Cambria" pitchFamily="34" charset="0"/>
                <a:ea typeface="Cambria" pitchFamily="34" charset="-122"/>
                <a:cs typeface="Cambria" pitchFamily="34" charset="-120"/>
              </a:rPr>
              <a:t>Taproot traces a stuck chapter down its roots to the skill where the trouble starts</a:t>
            </a:r>
            <a:endParaRPr lang="en-US" sz="2400" dirty="0"/>
          </a:p>
        </p:txBody>
      </p:sp>
      <p:sp>
        <p:nvSpPr>
          <p:cNvPr id="3" name="Shape 1"/>
          <p:cNvSpPr/>
          <p:nvPr/>
        </p:nvSpPr>
        <p:spPr>
          <a:xfrm>
            <a:off x="457200" y="1371600"/>
            <a:ext cx="457200" cy="457200"/>
          </a:xfrm>
          <a:prstGeom prst="ellipse">
            <a:avLst/>
          </a:prstGeom>
          <a:solidFill>
            <a:srgbClr val="FBEFD7"/>
          </a:solidFill>
          <a:ln w="19050">
            <a:solidFill>
              <a:srgbClr val="D99A2B"/>
            </a:solidFill>
            <a:prstDash val="solid"/>
          </a:ln>
        </p:spPr>
      </p:sp>
      <p:sp>
        <p:nvSpPr>
          <p:cNvPr id="4" name="Text 2"/>
          <p:cNvSpPr txBox="1"/>
          <p:nvPr/>
        </p:nvSpPr>
        <p:spPr>
          <a:xfrm>
            <a:off x="457200" y="1371600"/>
            <a:ext cx="457200" cy="457200"/>
          </a:xfrm>
          <a:prstGeom prst="rect">
            <a:avLst/>
          </a:prstGeom>
          <a:noFill/>
          <a:ln/>
        </p:spPr>
        <p:txBody>
          <a:bodyPr wrap="square" lIns="0" tIns="0" rIns="0" bIns="0" rtlCol="0" anchor="ctr"/>
          <a:lstStyle/>
          <a:p>
            <a:pPr algn="ctr" indent="0" marL="0">
              <a:buNone/>
            </a:pPr>
            <a:r>
              <a:rPr lang="en-US" sz="1800" b="1" dirty="0">
                <a:solidFill>
                  <a:srgbClr val="7A5235"/>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097280" y="1353312"/>
            <a:ext cx="2834640" cy="868680"/>
          </a:xfrm>
          <a:prstGeom prst="rect">
            <a:avLst/>
          </a:prstGeom>
          <a:noFill/>
          <a:ln/>
        </p:spPr>
        <p:txBody>
          <a:bodyPr wrap="square" lIns="0" tIns="0" rIns="0" bIns="0" rtlCol="0" anchor="t"/>
          <a:lstStyle/>
          <a:p>
            <a:pPr indent="0" marL="0">
              <a:buNone/>
            </a:pPr>
            <a:r>
              <a:rPr lang="en-US" sz="1600" b="1" dirty="0">
                <a:solidFill>
                  <a:srgbClr val="1D2721"/>
                </a:solidFill>
                <a:latin typeface="Calibri" pitchFamily="34" charset="0"/>
                <a:ea typeface="Calibri" pitchFamily="34" charset="-122"/>
                <a:cs typeface="Calibri" pitchFamily="34" charset="-120"/>
              </a:rPr>
              <a:t>Name the chapter</a:t>
            </a:r>
            <a:endParaRPr lang="en-US" sz="1600" dirty="0"/>
          </a:p>
          <a:p>
            <a:pPr indent="0" marL="0">
              <a:buNone/>
            </a:pPr>
            <a:r>
              <a:rPr lang="en-US" sz="1300" dirty="0">
                <a:solidFill>
                  <a:srgbClr val="56615A"/>
                </a:solidFill>
                <a:latin typeface="Calibri" pitchFamily="34" charset="0"/>
                <a:ea typeface="Calibri" pitchFamily="34" charset="-122"/>
                <a:cs typeface="Calibri" pitchFamily="34" charset="-120"/>
              </a:rPr>
              <a:t>or paste the exact problem you can't solve</a:t>
            </a:r>
            <a:endParaRPr lang="en-US" sz="1600" dirty="0"/>
          </a:p>
        </p:txBody>
      </p:sp>
      <p:sp>
        <p:nvSpPr>
          <p:cNvPr id="6" name="Shape 4"/>
          <p:cNvSpPr/>
          <p:nvPr/>
        </p:nvSpPr>
        <p:spPr>
          <a:xfrm>
            <a:off x="457200" y="2395728"/>
            <a:ext cx="457200" cy="457200"/>
          </a:xfrm>
          <a:prstGeom prst="ellipse">
            <a:avLst/>
          </a:prstGeom>
          <a:solidFill>
            <a:srgbClr val="FBEFD7"/>
          </a:solidFill>
          <a:ln w="19050">
            <a:solidFill>
              <a:srgbClr val="D99A2B"/>
            </a:solidFill>
            <a:prstDash val="solid"/>
          </a:ln>
        </p:spPr>
      </p:sp>
      <p:sp>
        <p:nvSpPr>
          <p:cNvPr id="7" name="Text 5"/>
          <p:cNvSpPr txBox="1"/>
          <p:nvPr/>
        </p:nvSpPr>
        <p:spPr>
          <a:xfrm>
            <a:off x="457200" y="2395728"/>
            <a:ext cx="457200" cy="457200"/>
          </a:xfrm>
          <a:prstGeom prst="rect">
            <a:avLst/>
          </a:prstGeom>
          <a:noFill/>
          <a:ln/>
        </p:spPr>
        <p:txBody>
          <a:bodyPr wrap="square" lIns="0" tIns="0" rIns="0" bIns="0" rtlCol="0" anchor="ctr"/>
          <a:lstStyle/>
          <a:p>
            <a:pPr algn="ctr" indent="0" marL="0">
              <a:buNone/>
            </a:pPr>
            <a:r>
              <a:rPr lang="en-US" sz="1800" b="1" dirty="0">
                <a:solidFill>
                  <a:srgbClr val="7A5235"/>
                </a:solidFill>
                <a:latin typeface="Cambria" pitchFamily="34" charset="0"/>
                <a:ea typeface="Cambria" pitchFamily="34" charset="-122"/>
                <a:cs typeface="Cambria" pitchFamily="34" charset="-120"/>
              </a:rPr>
              <a:t>2</a:t>
            </a:r>
            <a:endParaRPr lang="en-US" sz="1800" dirty="0"/>
          </a:p>
        </p:txBody>
      </p:sp>
      <p:sp>
        <p:nvSpPr>
          <p:cNvPr id="8" name="Text 6"/>
          <p:cNvSpPr txBox="1"/>
          <p:nvPr/>
        </p:nvSpPr>
        <p:spPr>
          <a:xfrm>
            <a:off x="1097280" y="2377440"/>
            <a:ext cx="2834640" cy="868680"/>
          </a:xfrm>
          <a:prstGeom prst="rect">
            <a:avLst/>
          </a:prstGeom>
          <a:noFill/>
          <a:ln/>
        </p:spPr>
        <p:txBody>
          <a:bodyPr wrap="square" lIns="0" tIns="0" rIns="0" bIns="0" rtlCol="0" anchor="t"/>
          <a:lstStyle/>
          <a:p>
            <a:pPr indent="0" marL="0">
              <a:buNone/>
            </a:pPr>
            <a:r>
              <a:rPr lang="en-US" sz="1600" b="1" dirty="0">
                <a:solidFill>
                  <a:srgbClr val="1D2721"/>
                </a:solidFill>
                <a:latin typeface="Calibri" pitchFamily="34" charset="0"/>
                <a:ea typeface="Calibri" pitchFamily="34" charset="-122"/>
                <a:cs typeface="Calibri" pitchFamily="34" charset="-120"/>
              </a:rPr>
              <a:t>Answer ~14 one-tap questions</a:t>
            </a:r>
            <a:endParaRPr lang="en-US" sz="1600" dirty="0"/>
          </a:p>
          <a:p>
            <a:pPr indent="0" marL="0">
              <a:buNone/>
            </a:pPr>
            <a:r>
              <a:rPr lang="en-US" sz="1300" dirty="0">
                <a:solidFill>
                  <a:srgbClr val="56615A"/>
                </a:solidFill>
                <a:latin typeface="Calibri" pitchFamily="34" charset="0"/>
                <a:ea typeface="Calibri" pitchFamily="34" charset="-122"/>
                <a:cs typeface="Calibri" pitchFamily="34" charset="-120"/>
              </a:rPr>
              <a:t>each with a reason, plus an “I'm not sure” option</a:t>
            </a:r>
            <a:endParaRPr lang="en-US" sz="1600" dirty="0"/>
          </a:p>
        </p:txBody>
      </p:sp>
      <p:sp>
        <p:nvSpPr>
          <p:cNvPr id="9" name="Shape 7"/>
          <p:cNvSpPr/>
          <p:nvPr/>
        </p:nvSpPr>
        <p:spPr>
          <a:xfrm>
            <a:off x="457200" y="3419856"/>
            <a:ext cx="457200" cy="457200"/>
          </a:xfrm>
          <a:prstGeom prst="ellipse">
            <a:avLst/>
          </a:prstGeom>
          <a:solidFill>
            <a:srgbClr val="FBEFD7"/>
          </a:solidFill>
          <a:ln w="19050">
            <a:solidFill>
              <a:srgbClr val="D99A2B"/>
            </a:solidFill>
            <a:prstDash val="solid"/>
          </a:ln>
        </p:spPr>
      </p:sp>
      <p:sp>
        <p:nvSpPr>
          <p:cNvPr id="10" name="Text 8"/>
          <p:cNvSpPr txBox="1"/>
          <p:nvPr/>
        </p:nvSpPr>
        <p:spPr>
          <a:xfrm>
            <a:off x="457200" y="3419856"/>
            <a:ext cx="457200" cy="457200"/>
          </a:xfrm>
          <a:prstGeom prst="rect">
            <a:avLst/>
          </a:prstGeom>
          <a:noFill/>
          <a:ln/>
        </p:spPr>
        <p:txBody>
          <a:bodyPr wrap="square" lIns="0" tIns="0" rIns="0" bIns="0" rtlCol="0" anchor="ctr"/>
          <a:lstStyle/>
          <a:p>
            <a:pPr algn="ctr" indent="0" marL="0">
              <a:buNone/>
            </a:pPr>
            <a:r>
              <a:rPr lang="en-US" sz="1800" b="1" dirty="0">
                <a:solidFill>
                  <a:srgbClr val="7A5235"/>
                </a:solidFill>
                <a:latin typeface="Cambria" pitchFamily="34" charset="0"/>
                <a:ea typeface="Cambria" pitchFamily="34" charset="-122"/>
                <a:cs typeface="Cambria" pitchFamily="34" charset="-120"/>
              </a:rPr>
              <a:t>3</a:t>
            </a:r>
            <a:endParaRPr lang="en-US" sz="1800" dirty="0"/>
          </a:p>
        </p:txBody>
      </p:sp>
      <p:sp>
        <p:nvSpPr>
          <p:cNvPr id="11" name="Text 9"/>
          <p:cNvSpPr txBox="1"/>
          <p:nvPr/>
        </p:nvSpPr>
        <p:spPr>
          <a:xfrm>
            <a:off x="1097280" y="3401568"/>
            <a:ext cx="2834640" cy="868680"/>
          </a:xfrm>
          <a:prstGeom prst="rect">
            <a:avLst/>
          </a:prstGeom>
          <a:noFill/>
          <a:ln/>
        </p:spPr>
        <p:txBody>
          <a:bodyPr wrap="square" lIns="0" tIns="0" rIns="0" bIns="0" rtlCol="0" anchor="t"/>
          <a:lstStyle/>
          <a:p>
            <a:pPr indent="0" marL="0">
              <a:buNone/>
            </a:pPr>
            <a:r>
              <a:rPr lang="en-US" sz="1600" b="1" dirty="0">
                <a:solidFill>
                  <a:srgbClr val="1D2721"/>
                </a:solidFill>
                <a:latin typeface="Calibri" pitchFamily="34" charset="0"/>
                <a:ea typeface="Calibri" pitchFamily="34" charset="-122"/>
                <a:cs typeface="Calibri" pitchFamily="34" charset="-120"/>
              </a:rPr>
              <a:t>See the root gap and the mix-up</a:t>
            </a:r>
            <a:endParaRPr lang="en-US" sz="1600" dirty="0"/>
          </a:p>
          <a:p>
            <a:pPr indent="0" marL="0">
              <a:buNone/>
            </a:pPr>
            <a:r>
              <a:rPr lang="en-US" sz="1300" dirty="0">
                <a:solidFill>
                  <a:srgbClr val="56615A"/>
                </a:solidFill>
                <a:latin typeface="Calibri" pitchFamily="34" charset="0"/>
                <a:ea typeface="Calibri" pitchFamily="34" charset="-122"/>
                <a:cs typeface="Calibri" pitchFamily="34" charset="-120"/>
              </a:rPr>
              <a:t>e.g. trig ratios, from Class 10: swapping sine and cosine</a:t>
            </a:r>
            <a:endParaRPr lang="en-US" sz="1600" dirty="0"/>
          </a:p>
        </p:txBody>
      </p:sp>
      <p:pic>
        <p:nvPicPr>
          <p:cNvPr id="12" name="Image 0" descr="preencoded.png">    </p:cNvPr>
          <p:cNvPicPr>
            <a:picLocks noChangeAspect="1"/>
          </p:cNvPicPr>
          <p:nvPr/>
        </p:nvPicPr>
        <p:blipFill>
          <a:blip r:embed="rId1"/>
          <a:stretch>
            <a:fillRect/>
          </a:stretch>
        </p:blipFill>
        <p:spPr>
          <a:xfrm>
            <a:off x="4160520" y="1280160"/>
            <a:ext cx="4526280" cy="3044952"/>
          </a:xfrm>
          <a:prstGeom prst="rect">
            <a:avLst/>
          </a:prstGeom>
          <a:effectLst>
            <a:outerShdw sx="100000" sy="100000" kx="0" ky="0" algn="bl" rotWithShape="0" blurRad="76200" dist="25400" dir="5400000">
              <a:srgbClr val="000000">
                <a:alpha val="18000"/>
              </a:srgbClr>
            </a:outerShdw>
          </a:effectLst>
        </p:spPr>
      </p:pic>
      <p:sp>
        <p:nvSpPr>
          <p:cNvPr id="13" name="Text 10"/>
          <p:cNvSpPr txBox="1"/>
          <p:nvPr/>
        </p:nvSpPr>
        <p:spPr>
          <a:xfrm>
            <a:off x="4160520" y="4370832"/>
            <a:ext cx="4526280" cy="274320"/>
          </a:xfrm>
          <a:prstGeom prst="rect">
            <a:avLst/>
          </a:prstGeom>
          <a:noFill/>
          <a:ln/>
        </p:spPr>
        <p:txBody>
          <a:bodyPr wrap="square" lIns="0" tIns="0" rIns="0" bIns="0" rtlCol="0" anchor="t"/>
          <a:lstStyle/>
          <a:p>
            <a:pPr indent="0" marL="0">
              <a:buNone/>
            </a:pPr>
            <a:r>
              <a:rPr lang="en-US" sz="1100" i="1" dirty="0">
                <a:solidFill>
                  <a:srgbClr val="56615A"/>
                </a:solidFill>
                <a:latin typeface="Calibri" pitchFamily="34" charset="0"/>
                <a:ea typeface="Calibri" pitchFamily="34" charset="-122"/>
                <a:cs typeface="Calibri" pitchFamily="34" charset="-120"/>
              </a:rPr>
              <a:t>A student stuck on projectile motion is traced back to trigonometric ratios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15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D2721"/>
                </a:solidFill>
                <a:latin typeface="Cambria" pitchFamily="34" charset="0"/>
                <a:ea typeface="Cambria" pitchFamily="34" charset="-122"/>
                <a:cs typeface="Cambria" pitchFamily="34" charset="-120"/>
              </a:rPr>
              <a:t>Every wrong answer is a diagnosis, so the repair targets the exact mix-up</a:t>
            </a:r>
            <a:endParaRPr lang="en-US" sz="2400" dirty="0"/>
          </a:p>
        </p:txBody>
      </p:sp>
      <p:sp>
        <p:nvSpPr>
          <p:cNvPr id="3" name="Shape 1"/>
          <p:cNvSpPr/>
          <p:nvPr/>
        </p:nvSpPr>
        <p:spPr>
          <a:xfrm>
            <a:off x="457200" y="1417320"/>
            <a:ext cx="1517904" cy="1600200"/>
          </a:xfrm>
          <a:prstGeom prst="roundRect">
            <a:avLst>
              <a:gd name="adj" fmla="val 7229"/>
            </a:avLst>
          </a:prstGeom>
          <a:solidFill>
            <a:srgbClr val="E3EFE7"/>
          </a:solidFill>
          <a:ln w="12700">
            <a:solidFill>
              <a:srgbClr val="E3EFE7"/>
            </a:solidFill>
            <a:prstDash val="solid"/>
          </a:ln>
        </p:spPr>
      </p:sp>
      <p:sp>
        <p:nvSpPr>
          <p:cNvPr id="4" name="Text 2"/>
          <p:cNvSpPr txBox="1"/>
          <p:nvPr/>
        </p:nvSpPr>
        <p:spPr>
          <a:xfrm>
            <a:off x="594360" y="1536192"/>
            <a:ext cx="1243584" cy="1417320"/>
          </a:xfrm>
          <a:prstGeom prst="rect">
            <a:avLst/>
          </a:prstGeom>
          <a:noFill/>
          <a:ln/>
        </p:spPr>
        <p:txBody>
          <a:bodyPr wrap="square" lIns="0" tIns="0" rIns="0" bIns="0" rtlCol="0" anchor="t"/>
          <a:lstStyle/>
          <a:p>
            <a:pPr indent="0" marL="0">
              <a:buNone/>
            </a:pPr>
            <a:r>
              <a:rPr lang="en-US" sz="2200" b="1" dirty="0">
                <a:solidFill>
                  <a:srgbClr val="2F6B4F"/>
                </a:solidFill>
                <a:latin typeface="Cambria" pitchFamily="34" charset="0"/>
                <a:ea typeface="Cambria" pitchFamily="34" charset="-122"/>
                <a:cs typeface="Cambria" pitchFamily="34" charset="-120"/>
              </a:rPr>
              <a:t>1</a:t>
            </a:r>
            <a:endParaRPr lang="en-US" sz="2200" dirty="0"/>
          </a:p>
          <a:p>
            <a:pPr indent="0" marL="0">
              <a:buNone/>
            </a:pPr>
            <a:r>
              <a:rPr lang="en-US" sz="1500" b="1" dirty="0">
                <a:solidFill>
                  <a:srgbClr val="1D2721"/>
                </a:solidFill>
                <a:latin typeface="Calibri" pitchFamily="34" charset="0"/>
                <a:ea typeface="Calibri" pitchFamily="34" charset="-122"/>
                <a:cs typeface="Calibri" pitchFamily="34" charset="-120"/>
              </a:rPr>
              <a:t>Trace</a:t>
            </a:r>
            <a:endParaRPr lang="en-US" sz="2200" dirty="0"/>
          </a:p>
          <a:p>
            <a:pPr indent="0" marL="0">
              <a:buNone/>
            </a:pPr>
            <a:r>
              <a:rPr lang="en-US" sz="1200" dirty="0">
                <a:solidFill>
                  <a:srgbClr val="56615A"/>
                </a:solidFill>
                <a:latin typeface="Calibri" pitchFamily="34" charset="0"/>
                <a:ea typeface="Calibri" pitchFamily="34" charset="-122"/>
                <a:cs typeface="Calibri" pitchFamily="34" charset="-120"/>
              </a:rPr>
              <a:t>Questions walk down the prerequisite tree</a:t>
            </a:r>
            <a:endParaRPr lang="en-US" sz="2200" dirty="0"/>
          </a:p>
        </p:txBody>
      </p:sp>
      <p:sp>
        <p:nvSpPr>
          <p:cNvPr id="5" name="Shape 3"/>
          <p:cNvSpPr/>
          <p:nvPr/>
        </p:nvSpPr>
        <p:spPr>
          <a:xfrm>
            <a:off x="2007108" y="2103120"/>
            <a:ext cx="91440" cy="228600"/>
          </a:xfrm>
          <a:prstGeom prst="chevron">
            <a:avLst/>
          </a:prstGeom>
          <a:solidFill>
            <a:srgbClr val="D99A2B"/>
          </a:solidFill>
          <a:ln w="12700">
            <a:solidFill>
              <a:srgbClr val="D99A2B"/>
            </a:solidFill>
            <a:prstDash val="solid"/>
          </a:ln>
        </p:spPr>
      </p:sp>
      <p:sp>
        <p:nvSpPr>
          <p:cNvPr id="6" name="Shape 4"/>
          <p:cNvSpPr/>
          <p:nvPr/>
        </p:nvSpPr>
        <p:spPr>
          <a:xfrm>
            <a:off x="2130552" y="1417320"/>
            <a:ext cx="1517904" cy="1600200"/>
          </a:xfrm>
          <a:prstGeom prst="roundRect">
            <a:avLst>
              <a:gd name="adj" fmla="val 7229"/>
            </a:avLst>
          </a:prstGeom>
          <a:solidFill>
            <a:srgbClr val="FBE6E3"/>
          </a:solidFill>
          <a:ln w="12700">
            <a:solidFill>
              <a:srgbClr val="B3372B"/>
            </a:solidFill>
            <a:prstDash val="solid"/>
          </a:ln>
        </p:spPr>
      </p:sp>
      <p:sp>
        <p:nvSpPr>
          <p:cNvPr id="7" name="Text 5"/>
          <p:cNvSpPr txBox="1"/>
          <p:nvPr/>
        </p:nvSpPr>
        <p:spPr>
          <a:xfrm>
            <a:off x="2267712" y="1536192"/>
            <a:ext cx="1243584" cy="1417320"/>
          </a:xfrm>
          <a:prstGeom prst="rect">
            <a:avLst/>
          </a:prstGeom>
          <a:noFill/>
          <a:ln/>
        </p:spPr>
        <p:txBody>
          <a:bodyPr wrap="square" lIns="0" tIns="0" rIns="0" bIns="0" rtlCol="0" anchor="t"/>
          <a:lstStyle/>
          <a:p>
            <a:pPr indent="0" marL="0">
              <a:buNone/>
            </a:pPr>
            <a:r>
              <a:rPr lang="en-US" sz="2200" b="1" dirty="0">
                <a:solidFill>
                  <a:srgbClr val="B3372B"/>
                </a:solidFill>
                <a:latin typeface="Cambria" pitchFamily="34" charset="0"/>
                <a:ea typeface="Cambria" pitchFamily="34" charset="-122"/>
                <a:cs typeface="Cambria" pitchFamily="34" charset="-120"/>
              </a:rPr>
              <a:t>2</a:t>
            </a:r>
            <a:endParaRPr lang="en-US" sz="2200" dirty="0"/>
          </a:p>
          <a:p>
            <a:pPr indent="0" marL="0">
              <a:buNone/>
            </a:pPr>
            <a:r>
              <a:rPr lang="en-US" sz="1500" b="1" dirty="0">
                <a:solidFill>
                  <a:srgbClr val="1D2721"/>
                </a:solidFill>
                <a:latin typeface="Calibri" pitchFamily="34" charset="0"/>
                <a:ea typeface="Calibri" pitchFamily="34" charset="-122"/>
                <a:cs typeface="Calibri" pitchFamily="34" charset="-120"/>
              </a:rPr>
              <a:t>Root found</a:t>
            </a:r>
            <a:endParaRPr lang="en-US" sz="2200" dirty="0"/>
          </a:p>
          <a:p>
            <a:pPr indent="0" marL="0">
              <a:buNone/>
            </a:pPr>
            <a:r>
              <a:rPr lang="en-US" sz="1200" dirty="0">
                <a:solidFill>
                  <a:srgbClr val="56615A"/>
                </a:solidFill>
                <a:latin typeface="Calibri" pitchFamily="34" charset="0"/>
                <a:ea typeface="Calibri" pitchFamily="34" charset="-122"/>
                <a:cs typeface="Calibri" pitchFamily="34" charset="-120"/>
              </a:rPr>
              <a:t>The failed skill whose foundations are solid</a:t>
            </a:r>
            <a:endParaRPr lang="en-US" sz="2200" dirty="0"/>
          </a:p>
        </p:txBody>
      </p:sp>
      <p:sp>
        <p:nvSpPr>
          <p:cNvPr id="8" name="Shape 6"/>
          <p:cNvSpPr/>
          <p:nvPr/>
        </p:nvSpPr>
        <p:spPr>
          <a:xfrm>
            <a:off x="3680460" y="2103120"/>
            <a:ext cx="91440" cy="228600"/>
          </a:xfrm>
          <a:prstGeom prst="chevron">
            <a:avLst/>
          </a:prstGeom>
          <a:solidFill>
            <a:srgbClr val="D99A2B"/>
          </a:solidFill>
          <a:ln w="12700">
            <a:solidFill>
              <a:srgbClr val="D99A2B"/>
            </a:solidFill>
            <a:prstDash val="solid"/>
          </a:ln>
        </p:spPr>
      </p:sp>
      <p:sp>
        <p:nvSpPr>
          <p:cNvPr id="9" name="Shape 7"/>
          <p:cNvSpPr/>
          <p:nvPr/>
        </p:nvSpPr>
        <p:spPr>
          <a:xfrm>
            <a:off x="3803904" y="1417320"/>
            <a:ext cx="1517904" cy="1600200"/>
          </a:xfrm>
          <a:prstGeom prst="roundRect">
            <a:avLst>
              <a:gd name="adj" fmla="val 7229"/>
            </a:avLst>
          </a:prstGeom>
          <a:solidFill>
            <a:srgbClr val="E3EFE7"/>
          </a:solidFill>
          <a:ln w="12700">
            <a:solidFill>
              <a:srgbClr val="E3EFE7"/>
            </a:solidFill>
            <a:prstDash val="solid"/>
          </a:ln>
        </p:spPr>
      </p:sp>
      <p:sp>
        <p:nvSpPr>
          <p:cNvPr id="10" name="Text 8"/>
          <p:cNvSpPr txBox="1"/>
          <p:nvPr/>
        </p:nvSpPr>
        <p:spPr>
          <a:xfrm>
            <a:off x="3941064" y="1536192"/>
            <a:ext cx="1243584" cy="1417320"/>
          </a:xfrm>
          <a:prstGeom prst="rect">
            <a:avLst/>
          </a:prstGeom>
          <a:noFill/>
          <a:ln/>
        </p:spPr>
        <p:txBody>
          <a:bodyPr wrap="square" lIns="0" tIns="0" rIns="0" bIns="0" rtlCol="0" anchor="t"/>
          <a:lstStyle/>
          <a:p>
            <a:pPr indent="0" marL="0">
              <a:buNone/>
            </a:pPr>
            <a:r>
              <a:rPr lang="en-US" sz="2200" b="1" dirty="0">
                <a:solidFill>
                  <a:srgbClr val="2F6B4F"/>
                </a:solidFill>
                <a:latin typeface="Cambria" pitchFamily="34" charset="0"/>
                <a:ea typeface="Cambria" pitchFamily="34" charset="-122"/>
                <a:cs typeface="Cambria" pitchFamily="34" charset="-120"/>
              </a:rPr>
              <a:t>3</a:t>
            </a:r>
            <a:endParaRPr lang="en-US" sz="2200" dirty="0"/>
          </a:p>
          <a:p>
            <a:pPr indent="0" marL="0">
              <a:buNone/>
            </a:pPr>
            <a:r>
              <a:rPr lang="en-US" sz="1500" b="1" dirty="0">
                <a:solidFill>
                  <a:srgbClr val="1D2721"/>
                </a:solidFill>
                <a:latin typeface="Calibri" pitchFamily="34" charset="0"/>
                <a:ea typeface="Calibri" pitchFamily="34" charset="-122"/>
                <a:cs typeface="Calibri" pitchFamily="34" charset="-120"/>
              </a:rPr>
              <a:t>Repair</a:t>
            </a:r>
            <a:endParaRPr lang="en-US" sz="2200" dirty="0"/>
          </a:p>
          <a:p>
            <a:pPr indent="0" marL="0">
              <a:buNone/>
            </a:pPr>
            <a:r>
              <a:rPr lang="en-US" sz="1200" dirty="0">
                <a:solidFill>
                  <a:srgbClr val="56615A"/>
                </a:solidFill>
                <a:latin typeface="Calibri" pitchFamily="34" charset="0"/>
                <a:ea typeface="Calibri" pitchFamily="34" charset="-122"/>
                <a:cs typeface="Calibri" pitchFamily="34" charset="-120"/>
              </a:rPr>
              <a:t>A lesson aimed at the student's own mix-up</a:t>
            </a:r>
            <a:endParaRPr lang="en-US" sz="2200" dirty="0"/>
          </a:p>
        </p:txBody>
      </p:sp>
      <p:sp>
        <p:nvSpPr>
          <p:cNvPr id="11" name="Shape 9"/>
          <p:cNvSpPr/>
          <p:nvPr/>
        </p:nvSpPr>
        <p:spPr>
          <a:xfrm>
            <a:off x="5353812" y="2103120"/>
            <a:ext cx="91440" cy="228600"/>
          </a:xfrm>
          <a:prstGeom prst="chevron">
            <a:avLst/>
          </a:prstGeom>
          <a:solidFill>
            <a:srgbClr val="D99A2B"/>
          </a:solidFill>
          <a:ln w="12700">
            <a:solidFill>
              <a:srgbClr val="D99A2B"/>
            </a:solidFill>
            <a:prstDash val="solid"/>
          </a:ln>
        </p:spPr>
      </p:sp>
      <p:sp>
        <p:nvSpPr>
          <p:cNvPr id="12" name="Shape 10"/>
          <p:cNvSpPr/>
          <p:nvPr/>
        </p:nvSpPr>
        <p:spPr>
          <a:xfrm>
            <a:off x="5477256" y="1417320"/>
            <a:ext cx="1517904" cy="1600200"/>
          </a:xfrm>
          <a:prstGeom prst="roundRect">
            <a:avLst>
              <a:gd name="adj" fmla="val 7229"/>
            </a:avLst>
          </a:prstGeom>
          <a:solidFill>
            <a:srgbClr val="E3EFE7"/>
          </a:solidFill>
          <a:ln w="12700">
            <a:solidFill>
              <a:srgbClr val="E3EFE7"/>
            </a:solidFill>
            <a:prstDash val="solid"/>
          </a:ln>
        </p:spPr>
      </p:sp>
      <p:sp>
        <p:nvSpPr>
          <p:cNvPr id="13" name="Text 11"/>
          <p:cNvSpPr txBox="1"/>
          <p:nvPr/>
        </p:nvSpPr>
        <p:spPr>
          <a:xfrm>
            <a:off x="5614416" y="1536192"/>
            <a:ext cx="1243584" cy="1417320"/>
          </a:xfrm>
          <a:prstGeom prst="rect">
            <a:avLst/>
          </a:prstGeom>
          <a:noFill/>
          <a:ln/>
        </p:spPr>
        <p:txBody>
          <a:bodyPr wrap="square" lIns="0" tIns="0" rIns="0" bIns="0" rtlCol="0" anchor="t"/>
          <a:lstStyle/>
          <a:p>
            <a:pPr indent="0" marL="0">
              <a:buNone/>
            </a:pPr>
            <a:r>
              <a:rPr lang="en-US" sz="2200" b="1" dirty="0">
                <a:solidFill>
                  <a:srgbClr val="2F6B4F"/>
                </a:solidFill>
                <a:latin typeface="Cambria" pitchFamily="34" charset="0"/>
                <a:ea typeface="Cambria" pitchFamily="34" charset="-122"/>
                <a:cs typeface="Cambria" pitchFamily="34" charset="-120"/>
              </a:rPr>
              <a:t>4</a:t>
            </a:r>
            <a:endParaRPr lang="en-US" sz="2200" dirty="0"/>
          </a:p>
          <a:p>
            <a:pPr indent="0" marL="0">
              <a:buNone/>
            </a:pPr>
            <a:r>
              <a:rPr lang="en-US" sz="1500" b="1" dirty="0">
                <a:solidFill>
                  <a:srgbClr val="1D2721"/>
                </a:solidFill>
                <a:latin typeface="Calibri" pitchFamily="34" charset="0"/>
                <a:ea typeface="Calibri" pitchFamily="34" charset="-122"/>
                <a:cs typeface="Calibri" pitchFamily="34" charset="-120"/>
              </a:rPr>
              <a:t>Practise</a:t>
            </a:r>
            <a:endParaRPr lang="en-US" sz="2200" dirty="0"/>
          </a:p>
          <a:p>
            <a:pPr indent="0" marL="0">
              <a:buNone/>
            </a:pPr>
            <a:r>
              <a:rPr lang="en-US" sz="1200" dirty="0">
                <a:solidFill>
                  <a:srgbClr val="56615A"/>
                </a:solidFill>
                <a:latin typeface="Calibri" pitchFamily="34" charset="0"/>
                <a:ea typeface="Calibri" pitchFamily="34" charset="-122"/>
                <a:cs typeface="Calibri" pitchFamily="34" charset="-120"/>
              </a:rPr>
              <a:t>A worked example and three practice questions</a:t>
            </a:r>
            <a:endParaRPr lang="en-US" sz="2200" dirty="0"/>
          </a:p>
        </p:txBody>
      </p:sp>
      <p:sp>
        <p:nvSpPr>
          <p:cNvPr id="14" name="Shape 12"/>
          <p:cNvSpPr/>
          <p:nvPr/>
        </p:nvSpPr>
        <p:spPr>
          <a:xfrm>
            <a:off x="7027164" y="2103120"/>
            <a:ext cx="91440" cy="228600"/>
          </a:xfrm>
          <a:prstGeom prst="chevron">
            <a:avLst/>
          </a:prstGeom>
          <a:solidFill>
            <a:srgbClr val="D99A2B"/>
          </a:solidFill>
          <a:ln w="12700">
            <a:solidFill>
              <a:srgbClr val="D99A2B"/>
            </a:solidFill>
            <a:prstDash val="solid"/>
          </a:ln>
        </p:spPr>
      </p:sp>
      <p:sp>
        <p:nvSpPr>
          <p:cNvPr id="15" name="Shape 13"/>
          <p:cNvSpPr/>
          <p:nvPr/>
        </p:nvSpPr>
        <p:spPr>
          <a:xfrm>
            <a:off x="7150608" y="1417320"/>
            <a:ext cx="1517904" cy="1600200"/>
          </a:xfrm>
          <a:prstGeom prst="roundRect">
            <a:avLst>
              <a:gd name="adj" fmla="val 7229"/>
            </a:avLst>
          </a:prstGeom>
          <a:solidFill>
            <a:srgbClr val="E3EFE7"/>
          </a:solidFill>
          <a:ln w="12700">
            <a:solidFill>
              <a:srgbClr val="E3EFE7"/>
            </a:solidFill>
            <a:prstDash val="solid"/>
          </a:ln>
        </p:spPr>
      </p:sp>
      <p:sp>
        <p:nvSpPr>
          <p:cNvPr id="16" name="Text 14"/>
          <p:cNvSpPr txBox="1"/>
          <p:nvPr/>
        </p:nvSpPr>
        <p:spPr>
          <a:xfrm>
            <a:off x="7287768" y="1536192"/>
            <a:ext cx="1243584" cy="1417320"/>
          </a:xfrm>
          <a:prstGeom prst="rect">
            <a:avLst/>
          </a:prstGeom>
          <a:noFill/>
          <a:ln/>
        </p:spPr>
        <p:txBody>
          <a:bodyPr wrap="square" lIns="0" tIns="0" rIns="0" bIns="0" rtlCol="0" anchor="t"/>
          <a:lstStyle/>
          <a:p>
            <a:pPr indent="0" marL="0">
              <a:buNone/>
            </a:pPr>
            <a:r>
              <a:rPr lang="en-US" sz="2200" b="1" dirty="0">
                <a:solidFill>
                  <a:srgbClr val="2F6B4F"/>
                </a:solidFill>
                <a:latin typeface="Cambria" pitchFamily="34" charset="0"/>
                <a:ea typeface="Cambria" pitchFamily="34" charset="-122"/>
                <a:cs typeface="Cambria" pitchFamily="34" charset="-120"/>
              </a:rPr>
              <a:t>5</a:t>
            </a:r>
            <a:endParaRPr lang="en-US" sz="2200" dirty="0"/>
          </a:p>
          <a:p>
            <a:pPr indent="0" marL="0">
              <a:buNone/>
            </a:pPr>
            <a:r>
              <a:rPr lang="en-US" sz="1500" b="1" dirty="0">
                <a:solidFill>
                  <a:srgbClr val="1D2721"/>
                </a:solidFill>
                <a:latin typeface="Calibri" pitchFamily="34" charset="0"/>
                <a:ea typeface="Calibri" pitchFamily="34" charset="-122"/>
                <a:cs typeface="Calibri" pitchFamily="34" charset="-120"/>
              </a:rPr>
              <a:t>Climb back</a:t>
            </a:r>
            <a:endParaRPr lang="en-US" sz="2200" dirty="0"/>
          </a:p>
          <a:p>
            <a:pPr indent="0" marL="0">
              <a:buNone/>
            </a:pPr>
            <a:r>
              <a:rPr lang="en-US" sz="1200" dirty="0">
                <a:solidFill>
                  <a:srgbClr val="56615A"/>
                </a:solidFill>
                <a:latin typeface="Calibri" pitchFamily="34" charset="0"/>
                <a:ea typeface="Calibri" pitchFamily="34" charset="-122"/>
                <a:cs typeface="Calibri" pitchFamily="34" charset="-120"/>
              </a:rPr>
              <a:t>Skill by skill, up to the original chapter</a:t>
            </a:r>
            <a:endParaRPr lang="en-US" sz="2200" dirty="0"/>
          </a:p>
        </p:txBody>
      </p:sp>
      <p:sp>
        <p:nvSpPr>
          <p:cNvPr id="17" name="Shape 15"/>
          <p:cNvSpPr/>
          <p:nvPr/>
        </p:nvSpPr>
        <p:spPr>
          <a:xfrm>
            <a:off x="457200" y="3291840"/>
            <a:ext cx="8229600" cy="1188720"/>
          </a:xfrm>
          <a:prstGeom prst="roundRect">
            <a:avLst>
              <a:gd name="adj" fmla="val 9231"/>
            </a:avLst>
          </a:prstGeom>
          <a:solidFill>
            <a:srgbClr val="F4F7F5"/>
          </a:solidFill>
          <a:ln w="12700">
            <a:solidFill>
              <a:srgbClr val="F4F7F5"/>
            </a:solidFill>
            <a:prstDash val="solid"/>
          </a:ln>
        </p:spPr>
      </p:sp>
      <p:sp>
        <p:nvSpPr>
          <p:cNvPr id="18" name="Text 16"/>
          <p:cNvSpPr txBox="1"/>
          <p:nvPr/>
        </p:nvSpPr>
        <p:spPr>
          <a:xfrm>
            <a:off x="685800" y="3429000"/>
            <a:ext cx="7772400" cy="960120"/>
          </a:xfrm>
          <a:prstGeom prst="rect">
            <a:avLst/>
          </a:prstGeom>
          <a:noFill/>
          <a:ln/>
        </p:spPr>
        <p:txBody>
          <a:bodyPr wrap="square" lIns="0" tIns="0" rIns="0" bIns="0" rtlCol="0" anchor="t"/>
          <a:lstStyle/>
          <a:p>
            <a:pPr indent="0" marL="0">
              <a:buNone/>
            </a:pPr>
            <a:r>
              <a:rPr lang="en-US" sz="1500" b="1" dirty="0">
                <a:solidFill>
                  <a:srgbClr val="1D2721"/>
                </a:solidFill>
                <a:latin typeface="Calibri" pitchFamily="34" charset="0"/>
                <a:ea typeface="Calibri" pitchFamily="34" charset="-122"/>
                <a:cs typeface="Calibri" pitchFamily="34" charset="-120"/>
              </a:rPr>
              <a:t>Wrong options are built from named misconceptions. </a:t>
            </a:r>
            <a:pPr indent="0" marL="0">
              <a:buNone/>
            </a:pPr>
            <a:r>
              <a:rPr lang="en-US" sz="1400" dirty="0">
                <a:solidFill>
                  <a:srgbClr val="1D2721"/>
                </a:solidFill>
                <a:latin typeface="Calibri" pitchFamily="34" charset="0"/>
                <a:ea typeface="Calibri" pitchFamily="34" charset="-122"/>
                <a:cs typeface="Calibri" pitchFamily="34" charset="-120"/>
              </a:rPr>
              <a:t>115 question templates compute fresh numbers and exact answers; each wrong option is the answer a specific mix-up produces (adding fractions top-and-bottom, using ×3.6 to turn km/h into m/s). That is how Taproot can say why, not just where.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15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D2721"/>
                </a:solidFill>
                <a:latin typeface="Cambria" pitchFamily="34" charset="0"/>
                <a:ea typeface="Cambria" pitchFamily="34" charset="-122"/>
                <a:cs typeface="Cambria" pitchFamily="34" charset="-120"/>
              </a:rPr>
              <a:t>A transparent algorithm makes the diagnosis; AI widens coverage and is cross-checked</a:t>
            </a:r>
            <a:endParaRPr lang="en-US" sz="2400" dirty="0"/>
          </a:p>
        </p:txBody>
      </p:sp>
      <p:sp>
        <p:nvSpPr>
          <p:cNvPr id="3" name="Shape 1"/>
          <p:cNvSpPr/>
          <p:nvPr/>
        </p:nvSpPr>
        <p:spPr>
          <a:xfrm>
            <a:off x="457200" y="1325880"/>
            <a:ext cx="3977640" cy="2514600"/>
          </a:xfrm>
          <a:prstGeom prst="roundRect">
            <a:avLst>
              <a:gd name="adj" fmla="val 4364"/>
            </a:avLst>
          </a:prstGeom>
          <a:solidFill>
            <a:srgbClr val="E3EFE7"/>
          </a:solidFill>
          <a:ln w="12700">
            <a:solidFill>
              <a:srgbClr val="E3EFE7"/>
            </a:solidFill>
            <a:prstDash val="solid"/>
          </a:ln>
        </p:spPr>
      </p:sp>
      <p:sp>
        <p:nvSpPr>
          <p:cNvPr id="4" name="Text 2"/>
          <p:cNvSpPr txBox="1"/>
          <p:nvPr/>
        </p:nvSpPr>
        <p:spPr>
          <a:xfrm>
            <a:off x="685800" y="1463040"/>
            <a:ext cx="3566160" cy="365760"/>
          </a:xfrm>
          <a:prstGeom prst="rect">
            <a:avLst/>
          </a:prstGeom>
          <a:noFill/>
          <a:ln/>
        </p:spPr>
        <p:txBody>
          <a:bodyPr wrap="square" lIns="0" tIns="0" rIns="0" bIns="0" rtlCol="0" anchor="t"/>
          <a:lstStyle/>
          <a:p>
            <a:pPr indent="0" marL="0">
              <a:buNone/>
            </a:pPr>
            <a:r>
              <a:rPr lang="en-US" sz="1700" b="1" dirty="0">
                <a:solidFill>
                  <a:srgbClr val="2F6B4F"/>
                </a:solidFill>
                <a:latin typeface="Calibri" pitchFamily="34" charset="0"/>
                <a:ea typeface="Calibri" pitchFamily="34" charset="-122"/>
                <a:cs typeface="Calibri" pitchFamily="34" charset="-120"/>
              </a:rPr>
              <a:t>Diagnostic engine (no AI)</a:t>
            </a:r>
            <a:endParaRPr lang="en-US" sz="1700" dirty="0"/>
          </a:p>
        </p:txBody>
      </p:sp>
      <p:sp>
        <p:nvSpPr>
          <p:cNvPr id="5" name="Text 3"/>
          <p:cNvSpPr txBox="1"/>
          <p:nvPr/>
        </p:nvSpPr>
        <p:spPr>
          <a:xfrm>
            <a:off x="685800" y="1874520"/>
            <a:ext cx="3566160" cy="1920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D2721"/>
                </a:solidFill>
                <a:latin typeface="Calibri" pitchFamily="34" charset="0"/>
                <a:ea typeface="Calibri" pitchFamily="34" charset="-122"/>
                <a:cs typeface="Calibri" pitchFamily="34" charset="-120"/>
              </a:rPr>
              <a:t>Hand-built skill graph: 34 skills, Class 6 to 11</a:t>
            </a:r>
            <a:endParaRPr lang="en-US" sz="1300" dirty="0"/>
          </a:p>
          <a:p>
            <a:pPr marL="177800" indent="-177800">
              <a:spcAft>
                <a:spcPts val="600"/>
              </a:spcAft>
              <a:buSzPct val="100000"/>
              <a:buChar char="•"/>
            </a:pPr>
            <a:r>
              <a:rPr lang="en-US" sz="1300" dirty="0">
                <a:solidFill>
                  <a:srgbClr val="1D2721"/>
                </a:solidFill>
                <a:latin typeface="Calibri" pitchFamily="34" charset="0"/>
                <a:ea typeface="Calibri" pitchFamily="34" charset="-122"/>
                <a:cs typeface="Calibri" pitchFamily="34" charset="-120"/>
              </a:rPr>
              <a:t>Each skill decided by a sequential probability ratio test (Wald, 1945): stop at about 20 : 1 odds</a:t>
            </a:r>
            <a:endParaRPr lang="en-US" sz="1300" dirty="0"/>
          </a:p>
          <a:p>
            <a:pPr marL="177800" indent="-177800">
              <a:spcAft>
                <a:spcPts val="600"/>
              </a:spcAft>
              <a:buSzPct val="100000"/>
              <a:buChar char="•"/>
            </a:pPr>
            <a:r>
              <a:rPr lang="en-US" sz="1300" dirty="0">
                <a:solidFill>
                  <a:srgbClr val="1D2721"/>
                </a:solidFill>
                <a:latin typeface="Calibri" pitchFamily="34" charset="0"/>
                <a:ea typeface="Calibri" pitchFamily="34" charset="-122"/>
                <a:cs typeface="Calibri" pitchFamily="34" charset="-120"/>
              </a:rPr>
              <a:t>Binary search below the deepest unexplained failure</a:t>
            </a:r>
            <a:endParaRPr lang="en-US" sz="1300" dirty="0"/>
          </a:p>
          <a:p>
            <a:pPr marL="177800" indent="-177800">
              <a:spcAft>
                <a:spcPts val="600"/>
              </a:spcAft>
              <a:buSzPct val="100000"/>
              <a:buChar char="•"/>
            </a:pPr>
            <a:r>
              <a:rPr lang="en-US" sz="1300" dirty="0">
                <a:solidFill>
                  <a:srgbClr val="1D2721"/>
                </a:solidFill>
                <a:latin typeface="Calibri" pitchFamily="34" charset="0"/>
                <a:ea typeface="Calibri" pitchFamily="34" charset="-122"/>
                <a:cs typeface="Calibri" pitchFamily="34" charset="-120"/>
              </a:rPr>
              <a:t>Checks sibling branches for a second gap</a:t>
            </a:r>
            <a:endParaRPr lang="en-US" sz="1300" dirty="0"/>
          </a:p>
        </p:txBody>
      </p:sp>
      <p:sp>
        <p:nvSpPr>
          <p:cNvPr id="6" name="Shape 4"/>
          <p:cNvSpPr/>
          <p:nvPr/>
        </p:nvSpPr>
        <p:spPr>
          <a:xfrm>
            <a:off x="4709160" y="1325880"/>
            <a:ext cx="3977640" cy="2514600"/>
          </a:xfrm>
          <a:prstGeom prst="roundRect">
            <a:avLst>
              <a:gd name="adj" fmla="val 4364"/>
            </a:avLst>
          </a:prstGeom>
          <a:solidFill>
            <a:srgbClr val="FBEFD7"/>
          </a:solidFill>
          <a:ln w="12700">
            <a:solidFill>
              <a:srgbClr val="FBEFD7"/>
            </a:solidFill>
            <a:prstDash val="solid"/>
          </a:ln>
        </p:spPr>
      </p:sp>
      <p:sp>
        <p:nvSpPr>
          <p:cNvPr id="7" name="Text 5"/>
          <p:cNvSpPr txBox="1"/>
          <p:nvPr/>
        </p:nvSpPr>
        <p:spPr>
          <a:xfrm>
            <a:off x="4937760" y="1463040"/>
            <a:ext cx="3566160" cy="365760"/>
          </a:xfrm>
          <a:prstGeom prst="rect">
            <a:avLst/>
          </a:prstGeom>
          <a:noFill/>
          <a:ln/>
        </p:spPr>
        <p:txBody>
          <a:bodyPr wrap="square" lIns="0" tIns="0" rIns="0" bIns="0" rtlCol="0" anchor="t"/>
          <a:lstStyle/>
          <a:p>
            <a:pPr indent="0" marL="0">
              <a:buNone/>
            </a:pPr>
            <a:r>
              <a:rPr lang="en-US" sz="1700" b="1" dirty="0">
                <a:solidFill>
                  <a:srgbClr val="7A5235"/>
                </a:solidFill>
                <a:latin typeface="Calibri" pitchFamily="34" charset="0"/>
                <a:ea typeface="Calibri" pitchFamily="34" charset="-122"/>
                <a:cs typeface="Calibri" pitchFamily="34" charset="-120"/>
              </a:rPr>
              <a:t>AI on Groq (open-weight models)</a:t>
            </a:r>
            <a:endParaRPr lang="en-US" sz="1700" dirty="0"/>
          </a:p>
        </p:txBody>
      </p:sp>
      <p:sp>
        <p:nvSpPr>
          <p:cNvPr id="8" name="Text 6"/>
          <p:cNvSpPr txBox="1"/>
          <p:nvPr/>
        </p:nvSpPr>
        <p:spPr>
          <a:xfrm>
            <a:off x="4937760" y="1874520"/>
            <a:ext cx="3566160" cy="1920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D2721"/>
                </a:solidFill>
                <a:latin typeface="Calibri" pitchFamily="34" charset="0"/>
                <a:ea typeface="Calibri" pitchFamily="34" charset="-122"/>
                <a:cs typeface="Calibri" pitchFamily="34" charset="-120"/>
              </a:rPr>
              <a:t>Maps any topic or pasted problem to a skill tree linked to the checked skills</a:t>
            </a:r>
            <a:endParaRPr lang="en-US" sz="1300" dirty="0"/>
          </a:p>
          <a:p>
            <a:pPr marL="177800" indent="-177800">
              <a:spcAft>
                <a:spcPts val="600"/>
              </a:spcAft>
              <a:buSzPct val="100000"/>
              <a:buChar char="•"/>
            </a:pPr>
            <a:r>
              <a:rPr lang="en-US" sz="1300" dirty="0">
                <a:solidFill>
                  <a:srgbClr val="1D2721"/>
                </a:solidFill>
                <a:latin typeface="Calibri" pitchFamily="34" charset="0"/>
                <a:ea typeface="Calibri" pitchFamily="34" charset="-122"/>
                <a:cs typeface="Calibri" pitchFamily="34" charset="-120"/>
              </a:rPr>
              <a:t>gpt-oss-120b writes questions; qwen3.8-27b solves them blind; only agreed questions are used</a:t>
            </a:r>
            <a:endParaRPr lang="en-US" sz="1300" dirty="0"/>
          </a:p>
          <a:p>
            <a:pPr marL="177800" indent="-177800">
              <a:spcAft>
                <a:spcPts val="600"/>
              </a:spcAft>
              <a:buSzPct val="100000"/>
              <a:buChar char="•"/>
            </a:pPr>
            <a:r>
              <a:rPr lang="en-US" sz="1300" dirty="0">
                <a:solidFill>
                  <a:srgbClr val="1D2721"/>
                </a:solidFill>
                <a:latin typeface="Calibri" pitchFamily="34" charset="0"/>
                <a:ea typeface="Calibri" pitchFamily="34" charset="-122"/>
                <a:cs typeface="Calibri" pitchFamily="34" charset="-120"/>
              </a:rPr>
              <a:t>Lessons start from the student's actual wrong answers</a:t>
            </a:r>
            <a:endParaRPr lang="en-US" sz="1300" dirty="0"/>
          </a:p>
          <a:p>
            <a:pPr marL="177800" indent="-177800">
              <a:spcAft>
                <a:spcPts val="600"/>
              </a:spcAft>
              <a:buSzPct val="100000"/>
              <a:buChar char="•"/>
            </a:pPr>
            <a:r>
              <a:rPr lang="en-US" sz="1300" dirty="0">
                <a:solidFill>
                  <a:srgbClr val="1D2721"/>
                </a:solidFill>
                <a:latin typeface="Calibri" pitchFamily="34" charset="0"/>
                <a:ea typeface="Calibri" pitchFamily="34" charset="-122"/>
                <a:cs typeface="Calibri" pitchFamily="34" charset="-120"/>
              </a:rPr>
              <a:t>Featured chapters work fully without AI</a:t>
            </a:r>
            <a:endParaRPr lang="en-US" sz="1300" dirty="0"/>
          </a:p>
        </p:txBody>
      </p:sp>
      <p:sp>
        <p:nvSpPr>
          <p:cNvPr id="9" name="Shape 7"/>
          <p:cNvSpPr/>
          <p:nvPr/>
        </p:nvSpPr>
        <p:spPr>
          <a:xfrm>
            <a:off x="457200" y="4005072"/>
            <a:ext cx="8229600" cy="548640"/>
          </a:xfrm>
          <a:prstGeom prst="roundRect">
            <a:avLst>
              <a:gd name="adj" fmla="val 20000"/>
            </a:avLst>
          </a:prstGeom>
          <a:solidFill>
            <a:srgbClr val="F4F7F5"/>
          </a:solidFill>
          <a:ln w="12700">
            <a:solidFill>
              <a:srgbClr val="F4F7F5"/>
            </a:solidFill>
            <a:prstDash val="solid"/>
          </a:ln>
        </p:spPr>
      </p:sp>
      <p:sp>
        <p:nvSpPr>
          <p:cNvPr id="10" name="Text 8"/>
          <p:cNvSpPr txBox="1"/>
          <p:nvPr/>
        </p:nvSpPr>
        <p:spPr>
          <a:xfrm>
            <a:off x="685800" y="4078224"/>
            <a:ext cx="7772400" cy="411480"/>
          </a:xfrm>
          <a:prstGeom prst="rect">
            <a:avLst/>
          </a:prstGeom>
          <a:noFill/>
          <a:ln/>
        </p:spPr>
        <p:txBody>
          <a:bodyPr wrap="square" lIns="0" tIns="0" rIns="0" bIns="0" rtlCol="0" anchor="ctr"/>
          <a:lstStyle/>
          <a:p>
            <a:pPr indent="0" marL="0">
              <a:buNone/>
            </a:pPr>
            <a:r>
              <a:rPr lang="en-US" sz="1300" b="1" dirty="0">
                <a:solidFill>
                  <a:srgbClr val="1D2721"/>
                </a:solidFill>
                <a:latin typeface="Calibri" pitchFamily="34" charset="0"/>
                <a:ea typeface="Calibri" pitchFamily="34" charset="-122"/>
                <a:cs typeface="Calibri" pitchFamily="34" charset="-120"/>
              </a:rPr>
              <a:t>Cross-check on the live API: </a:t>
            </a:r>
            <a:pPr indent="0" marL="0">
              <a:buNone/>
            </a:pPr>
            <a:r>
              <a:rPr lang="en-US" sz="1300" dirty="0">
                <a:solidFill>
                  <a:srgbClr val="1D2721"/>
                </a:solidFill>
                <a:latin typeface="Calibri" pitchFamily="34" charset="0"/>
                <a:ea typeface="Calibri" pitchFamily="34" charset="-122"/>
                <a:cs typeface="Calibri" pitchFamily="34" charset="-120"/>
              </a:rPr>
              <a:t>16 of 16 AI-written questions passed, a third model agreed on 14, and 5 of 5 off-topic or injection prompts were refused.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15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D2721"/>
                </a:solidFill>
                <a:latin typeface="Cambria" pitchFamily="34" charset="0"/>
                <a:ea typeface="Cambria" pitchFamily="34" charset="-122"/>
                <a:cs typeface="Cambria" pitchFamily="34" charset="-120"/>
              </a:rPr>
              <a:t>On 10,000 simulated students, Taproot names the true root gap first 85% of the time</a:t>
            </a:r>
            <a:endParaRPr lang="en-US" sz="2400" dirty="0"/>
          </a:p>
        </p:txBody>
      </p:sp>
      <p:graphicFrame>
        <p:nvGraphicFramePr>
          <p:cNvPr id="3" name="Chart 0" descr=""/>
          <p:cNvGraphicFramePr/>
          <p:nvPr/>
        </p:nvGraphicFramePr>
        <p:xfrm>
          <a:off x="365760" y="123444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760720" y="1325880"/>
            <a:ext cx="2926080" cy="932688"/>
          </a:xfrm>
          <a:prstGeom prst="roundRect">
            <a:avLst>
              <a:gd name="adj" fmla="val 11765"/>
            </a:avLst>
          </a:prstGeom>
          <a:solidFill>
            <a:srgbClr val="F4F7F5"/>
          </a:solidFill>
          <a:ln w="12700">
            <a:solidFill>
              <a:srgbClr val="F4F7F5"/>
            </a:solidFill>
            <a:prstDash val="solid"/>
          </a:ln>
        </p:spPr>
      </p:sp>
      <p:sp>
        <p:nvSpPr>
          <p:cNvPr id="5" name="Text 2"/>
          <p:cNvSpPr txBox="1"/>
          <p:nvPr/>
        </p:nvSpPr>
        <p:spPr>
          <a:xfrm>
            <a:off x="5943600" y="1399032"/>
            <a:ext cx="2606040" cy="822960"/>
          </a:xfrm>
          <a:prstGeom prst="rect">
            <a:avLst/>
          </a:prstGeom>
          <a:noFill/>
          <a:ln/>
        </p:spPr>
        <p:txBody>
          <a:bodyPr wrap="square" lIns="0" tIns="0" rIns="0" bIns="0" rtlCol="0" anchor="t"/>
          <a:lstStyle/>
          <a:p>
            <a:pPr indent="0" marL="0">
              <a:buNone/>
            </a:pPr>
            <a:r>
              <a:rPr lang="en-US" sz="2400" b="1" dirty="0">
                <a:solidFill>
                  <a:srgbClr val="2F6B4F"/>
                </a:solidFill>
                <a:latin typeface="Cambria" pitchFamily="34" charset="0"/>
                <a:ea typeface="Cambria" pitchFamily="34" charset="-122"/>
                <a:cs typeface="Cambria" pitchFamily="34" charset="-120"/>
              </a:rPr>
              <a:t>13.8</a:t>
            </a:r>
            <a:endParaRPr lang="en-US" sz="2400" dirty="0"/>
          </a:p>
          <a:p>
            <a:pPr indent="0" marL="0">
              <a:buNone/>
            </a:pPr>
            <a:r>
              <a:rPr lang="en-US" sz="1200" dirty="0">
                <a:solidFill>
                  <a:srgbClr val="56615A"/>
                </a:solidFill>
                <a:latin typeface="Calibri" pitchFamily="34" charset="0"/>
                <a:ea typeface="Calibri" pitchFamily="34" charset="-122"/>
                <a:cs typeface="Calibri" pitchFamily="34" charset="-120"/>
              </a:rPr>
              <a:t>questions on average, vs 35.5 to test every skill</a:t>
            </a:r>
            <a:endParaRPr lang="en-US" sz="2400" dirty="0"/>
          </a:p>
        </p:txBody>
      </p:sp>
      <p:sp>
        <p:nvSpPr>
          <p:cNvPr id="6" name="Shape 3"/>
          <p:cNvSpPr/>
          <p:nvPr/>
        </p:nvSpPr>
        <p:spPr>
          <a:xfrm>
            <a:off x="5760720" y="2395728"/>
            <a:ext cx="2926080" cy="932688"/>
          </a:xfrm>
          <a:prstGeom prst="roundRect">
            <a:avLst>
              <a:gd name="adj" fmla="val 11765"/>
            </a:avLst>
          </a:prstGeom>
          <a:solidFill>
            <a:srgbClr val="F4F7F5"/>
          </a:solidFill>
          <a:ln w="12700">
            <a:solidFill>
              <a:srgbClr val="F4F7F5"/>
            </a:solidFill>
            <a:prstDash val="solid"/>
          </a:ln>
        </p:spPr>
      </p:sp>
      <p:sp>
        <p:nvSpPr>
          <p:cNvPr id="7" name="Text 4"/>
          <p:cNvSpPr txBox="1"/>
          <p:nvPr/>
        </p:nvSpPr>
        <p:spPr>
          <a:xfrm>
            <a:off x="5943600" y="2468880"/>
            <a:ext cx="2606040" cy="822960"/>
          </a:xfrm>
          <a:prstGeom prst="rect">
            <a:avLst/>
          </a:prstGeom>
          <a:noFill/>
          <a:ln/>
        </p:spPr>
        <p:txBody>
          <a:bodyPr wrap="square" lIns="0" tIns="0" rIns="0" bIns="0" rtlCol="0" anchor="t"/>
          <a:lstStyle/>
          <a:p>
            <a:pPr indent="0" marL="0">
              <a:buNone/>
            </a:pPr>
            <a:r>
              <a:rPr lang="en-US" sz="2400" b="1" dirty="0">
                <a:solidFill>
                  <a:srgbClr val="2F6B4F"/>
                </a:solidFill>
                <a:latin typeface="Cambria" pitchFamily="34" charset="0"/>
                <a:ea typeface="Cambria" pitchFamily="34" charset="-122"/>
                <a:cs typeface="Cambria" pitchFamily="34" charset="-120"/>
              </a:rPr>
              <a:t>1.0%</a:t>
            </a:r>
            <a:endParaRPr lang="en-US" sz="2400" dirty="0"/>
          </a:p>
          <a:p>
            <a:pPr indent="0" marL="0">
              <a:buNone/>
            </a:pPr>
            <a:r>
              <a:rPr lang="en-US" sz="1200" dirty="0">
                <a:solidFill>
                  <a:srgbClr val="56615A"/>
                </a:solidFill>
                <a:latin typeface="Calibri" pitchFamily="34" charset="0"/>
                <a:ea typeface="Calibri" pitchFamily="34" charset="-122"/>
                <a:cs typeface="Calibri" pitchFamily="34" charset="-120"/>
              </a:rPr>
              <a:t>false alarms, vs 17.7% when testing every skill</a:t>
            </a:r>
            <a:endParaRPr lang="en-US" sz="2400" dirty="0"/>
          </a:p>
        </p:txBody>
      </p:sp>
      <p:sp>
        <p:nvSpPr>
          <p:cNvPr id="8" name="Shape 5"/>
          <p:cNvSpPr/>
          <p:nvPr/>
        </p:nvSpPr>
        <p:spPr>
          <a:xfrm>
            <a:off x="5760720" y="3465576"/>
            <a:ext cx="2926080" cy="932688"/>
          </a:xfrm>
          <a:prstGeom prst="roundRect">
            <a:avLst>
              <a:gd name="adj" fmla="val 11765"/>
            </a:avLst>
          </a:prstGeom>
          <a:solidFill>
            <a:srgbClr val="F4F7F5"/>
          </a:solidFill>
          <a:ln w="12700">
            <a:solidFill>
              <a:srgbClr val="F4F7F5"/>
            </a:solidFill>
            <a:prstDash val="solid"/>
          </a:ln>
        </p:spPr>
      </p:sp>
      <p:sp>
        <p:nvSpPr>
          <p:cNvPr id="9" name="Text 6"/>
          <p:cNvSpPr txBox="1"/>
          <p:nvPr/>
        </p:nvSpPr>
        <p:spPr>
          <a:xfrm>
            <a:off x="5943600" y="3538728"/>
            <a:ext cx="2606040" cy="822960"/>
          </a:xfrm>
          <a:prstGeom prst="rect">
            <a:avLst/>
          </a:prstGeom>
          <a:noFill/>
          <a:ln/>
        </p:spPr>
        <p:txBody>
          <a:bodyPr wrap="square" lIns="0" tIns="0" rIns="0" bIns="0" rtlCol="0" anchor="t"/>
          <a:lstStyle/>
          <a:p>
            <a:pPr indent="0" marL="0">
              <a:buNone/>
            </a:pPr>
            <a:r>
              <a:rPr lang="en-US" sz="2400" b="1" dirty="0">
                <a:solidFill>
                  <a:srgbClr val="2F6B4F"/>
                </a:solidFill>
                <a:latin typeface="Cambria" pitchFamily="34" charset="0"/>
                <a:ea typeface="Cambria" pitchFamily="34" charset="-122"/>
                <a:cs typeface="Cambria" pitchFamily="34" charset="-120"/>
              </a:rPr>
              <a:t>100%</a:t>
            </a:r>
            <a:endParaRPr lang="en-US" sz="2400" dirty="0"/>
          </a:p>
          <a:p>
            <a:pPr indent="0" marL="0">
              <a:buNone/>
            </a:pPr>
            <a:r>
              <a:rPr lang="en-US" sz="1200" dirty="0">
                <a:solidFill>
                  <a:srgbClr val="56615A"/>
                </a:solidFill>
                <a:latin typeface="Calibri" pitchFamily="34" charset="0"/>
                <a:ea typeface="Calibri" pitchFamily="34" charset="-122"/>
                <a:cs typeface="Calibri" pitchFamily="34" charset="-120"/>
              </a:rPr>
              <a:t>of planted wrong answer keys caught by the AI cross-check</a:t>
            </a:r>
            <a:endParaRPr lang="en-US" sz="2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15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D2721"/>
                </a:solidFill>
                <a:latin typeface="Cambria" pitchFamily="34" charset="0"/>
                <a:ea typeface="Cambria" pitchFamily="34" charset="-122"/>
                <a:cs typeface="Cambria" pitchFamily="34" charset="-120"/>
              </a:rPr>
              <a:t>Teachers see what to re-teach, and students never share anything personal</a:t>
            </a:r>
            <a:endParaRPr lang="en-US" sz="2400" dirty="0"/>
          </a:p>
        </p:txBody>
      </p:sp>
      <p:sp>
        <p:nvSpPr>
          <p:cNvPr id="3" name="Shape 1"/>
          <p:cNvSpPr/>
          <p:nvPr/>
        </p:nvSpPr>
        <p:spPr>
          <a:xfrm>
            <a:off x="457200" y="1325880"/>
            <a:ext cx="4206240" cy="3154680"/>
          </a:xfrm>
          <a:prstGeom prst="roundRect">
            <a:avLst>
              <a:gd name="adj" fmla="val 3478"/>
            </a:avLst>
          </a:prstGeom>
          <a:solidFill>
            <a:srgbClr val="F4F7F5"/>
          </a:solidFill>
          <a:ln w="12700">
            <a:solidFill>
              <a:srgbClr val="F4F7F5"/>
            </a:solidFill>
            <a:prstDash val="solid"/>
          </a:ln>
        </p:spPr>
      </p:sp>
      <p:sp>
        <p:nvSpPr>
          <p:cNvPr id="4" name="Text 2"/>
          <p:cNvSpPr txBox="1"/>
          <p:nvPr/>
        </p:nvSpPr>
        <p:spPr>
          <a:xfrm>
            <a:off x="685800" y="1463040"/>
            <a:ext cx="3749040" cy="548640"/>
          </a:xfrm>
          <a:prstGeom prst="rect">
            <a:avLst/>
          </a:prstGeom>
          <a:noFill/>
          <a:ln/>
        </p:spPr>
        <p:txBody>
          <a:bodyPr wrap="square" lIns="0" tIns="0" rIns="0" bIns="0" rtlCol="0" anchor="t"/>
          <a:lstStyle/>
          <a:p>
            <a:pPr indent="0" marL="0">
              <a:buNone/>
            </a:pPr>
            <a:r>
              <a:rPr lang="en-US" sz="1500" b="1" dirty="0">
                <a:solidFill>
                  <a:srgbClr val="1D2721"/>
                </a:solidFill>
                <a:latin typeface="Calibri" pitchFamily="34" charset="0"/>
                <a:ea typeface="Calibri" pitchFamily="34" charset="-122"/>
                <a:cs typeface="Calibri" pitchFamily="34" charset="-120"/>
              </a:rPr>
              <a:t>Class dashboard: what to re-teach</a:t>
            </a:r>
            <a:endParaRPr lang="en-US" sz="1500" dirty="0"/>
          </a:p>
          <a:p>
            <a:pPr indent="0" marL="0">
              <a:buNone/>
            </a:pPr>
            <a:r>
              <a:rPr lang="en-US" sz="1200" dirty="0">
                <a:solidFill>
                  <a:srgbClr val="56615A"/>
                </a:solidFill>
                <a:latin typeface="Calibri" pitchFamily="34" charset="0"/>
                <a:ea typeface="Calibri" pitchFamily="34" charset="-122"/>
                <a:cs typeface="Calibri" pitchFamily="34" charset="-120"/>
              </a:rPr>
              <a:t>10 B Maths · 8 check-ups</a:t>
            </a:r>
            <a:endParaRPr lang="en-US" sz="1500" dirty="0"/>
          </a:p>
        </p:txBody>
      </p:sp>
      <p:sp>
        <p:nvSpPr>
          <p:cNvPr id="5" name="Text 3"/>
          <p:cNvSpPr txBox="1"/>
          <p:nvPr/>
        </p:nvSpPr>
        <p:spPr>
          <a:xfrm>
            <a:off x="685800" y="2103120"/>
            <a:ext cx="3749040" cy="228600"/>
          </a:xfrm>
          <a:prstGeom prst="rect">
            <a:avLst/>
          </a:prstGeom>
          <a:noFill/>
          <a:ln/>
        </p:spPr>
        <p:txBody>
          <a:bodyPr wrap="square" lIns="0" tIns="0" rIns="0" bIns="0" rtlCol="0" anchor="t"/>
          <a:lstStyle/>
          <a:p>
            <a:pPr indent="0" marL="0">
              <a:buNone/>
            </a:pPr>
            <a:r>
              <a:rPr lang="en-US" sz="1300" b="1" dirty="0">
                <a:solidFill>
                  <a:srgbClr val="1D2721"/>
                </a:solidFill>
                <a:latin typeface="Calibri" pitchFamily="34" charset="0"/>
                <a:ea typeface="Calibri" pitchFamily="34" charset="-122"/>
                <a:cs typeface="Calibri" pitchFamily="34" charset="-120"/>
              </a:rPr>
              <a:t>Trigonometric ratios</a:t>
            </a:r>
            <a:pPr indent="0" marL="0">
              <a:buNone/>
            </a:pPr>
            <a:r>
              <a:rPr lang="en-US" sz="1200" dirty="0">
                <a:solidFill>
                  <a:srgbClr val="56615A"/>
                </a:solidFill>
                <a:latin typeface="Calibri" pitchFamily="34" charset="0"/>
                <a:ea typeface="Calibri" pitchFamily="34" charset="-122"/>
                <a:cs typeface="Calibri" pitchFamily="34" charset="-120"/>
              </a:rPr>
              <a:t>   4 of 8</a:t>
            </a:r>
            <a:endParaRPr lang="en-US" sz="1300" dirty="0"/>
          </a:p>
        </p:txBody>
      </p:sp>
      <p:sp>
        <p:nvSpPr>
          <p:cNvPr id="6" name="Shape 4"/>
          <p:cNvSpPr/>
          <p:nvPr/>
        </p:nvSpPr>
        <p:spPr>
          <a:xfrm>
            <a:off x="685800" y="2377440"/>
            <a:ext cx="3749040" cy="118872"/>
          </a:xfrm>
          <a:prstGeom prst="roundRect">
            <a:avLst>
              <a:gd name="adj" fmla="val 38462"/>
            </a:avLst>
          </a:prstGeom>
          <a:solidFill>
            <a:srgbClr val="E2DACB"/>
          </a:solidFill>
          <a:ln w="12700">
            <a:solidFill>
              <a:srgbClr val="E2DACB"/>
            </a:solidFill>
            <a:prstDash val="solid"/>
          </a:ln>
        </p:spPr>
      </p:sp>
      <p:sp>
        <p:nvSpPr>
          <p:cNvPr id="7" name="Shape 5"/>
          <p:cNvSpPr/>
          <p:nvPr/>
        </p:nvSpPr>
        <p:spPr>
          <a:xfrm>
            <a:off x="685800" y="2377440"/>
            <a:ext cx="3749040" cy="118872"/>
          </a:xfrm>
          <a:prstGeom prst="roundRect">
            <a:avLst>
              <a:gd name="adj" fmla="val 38462"/>
            </a:avLst>
          </a:prstGeom>
          <a:solidFill>
            <a:srgbClr val="2F6B4F"/>
          </a:solidFill>
          <a:ln w="12700">
            <a:solidFill>
              <a:srgbClr val="2F6B4F"/>
            </a:solidFill>
            <a:prstDash val="solid"/>
          </a:ln>
        </p:spPr>
      </p:sp>
      <p:sp>
        <p:nvSpPr>
          <p:cNvPr id="8" name="Text 6"/>
          <p:cNvSpPr txBox="1"/>
          <p:nvPr/>
        </p:nvSpPr>
        <p:spPr>
          <a:xfrm>
            <a:off x="685800" y="2542032"/>
            <a:ext cx="3749040" cy="228600"/>
          </a:xfrm>
          <a:prstGeom prst="rect">
            <a:avLst/>
          </a:prstGeom>
          <a:noFill/>
          <a:ln/>
        </p:spPr>
        <p:txBody>
          <a:bodyPr wrap="square" lIns="0" tIns="0" rIns="0" bIns="0" rtlCol="0" anchor="t"/>
          <a:lstStyle/>
          <a:p>
            <a:pPr indent="0" marL="0">
              <a:buNone/>
            </a:pPr>
            <a:r>
              <a:rPr lang="en-US" sz="1100" dirty="0">
                <a:solidFill>
                  <a:srgbClr val="56615A"/>
                </a:solidFill>
                <a:latin typeface="Calibri" pitchFamily="34" charset="0"/>
                <a:ea typeface="Calibri" pitchFamily="34" charset="-122"/>
                <a:cs typeface="Calibri" pitchFamily="34" charset="-120"/>
              </a:rPr>
              <a:t>Swaps sine and cosine (3)</a:t>
            </a:r>
            <a:endParaRPr lang="en-US" sz="1100" dirty="0"/>
          </a:p>
        </p:txBody>
      </p:sp>
      <p:sp>
        <p:nvSpPr>
          <p:cNvPr id="9" name="Text 7"/>
          <p:cNvSpPr txBox="1"/>
          <p:nvPr/>
        </p:nvSpPr>
        <p:spPr>
          <a:xfrm>
            <a:off x="685800" y="2880360"/>
            <a:ext cx="3749040" cy="228600"/>
          </a:xfrm>
          <a:prstGeom prst="rect">
            <a:avLst/>
          </a:prstGeom>
          <a:noFill/>
          <a:ln/>
        </p:spPr>
        <p:txBody>
          <a:bodyPr wrap="square" lIns="0" tIns="0" rIns="0" bIns="0" rtlCol="0" anchor="t"/>
          <a:lstStyle/>
          <a:p>
            <a:pPr indent="0" marL="0">
              <a:buNone/>
            </a:pPr>
            <a:r>
              <a:rPr lang="en-US" sz="1300" b="1" dirty="0">
                <a:solidFill>
                  <a:srgbClr val="1D2721"/>
                </a:solidFill>
                <a:latin typeface="Calibri" pitchFamily="34" charset="0"/>
                <a:ea typeface="Calibri" pitchFamily="34" charset="-122"/>
                <a:cs typeface="Calibri" pitchFamily="34" charset="-120"/>
              </a:rPr>
              <a:t>Factorising</a:t>
            </a:r>
            <a:pPr indent="0" marL="0">
              <a:buNone/>
            </a:pPr>
            <a:r>
              <a:rPr lang="en-US" sz="1200" dirty="0">
                <a:solidFill>
                  <a:srgbClr val="56615A"/>
                </a:solidFill>
                <a:latin typeface="Calibri" pitchFamily="34" charset="0"/>
                <a:ea typeface="Calibri" pitchFamily="34" charset="-122"/>
                <a:cs typeface="Calibri" pitchFamily="34" charset="-120"/>
              </a:rPr>
              <a:t>   2 of 8</a:t>
            </a:r>
            <a:endParaRPr lang="en-US" sz="1300" dirty="0"/>
          </a:p>
        </p:txBody>
      </p:sp>
      <p:sp>
        <p:nvSpPr>
          <p:cNvPr id="10" name="Shape 8"/>
          <p:cNvSpPr/>
          <p:nvPr/>
        </p:nvSpPr>
        <p:spPr>
          <a:xfrm>
            <a:off x="685800" y="3154680"/>
            <a:ext cx="3749040" cy="118872"/>
          </a:xfrm>
          <a:prstGeom prst="roundRect">
            <a:avLst>
              <a:gd name="adj" fmla="val 38462"/>
            </a:avLst>
          </a:prstGeom>
          <a:solidFill>
            <a:srgbClr val="E2DACB"/>
          </a:solidFill>
          <a:ln w="12700">
            <a:solidFill>
              <a:srgbClr val="E2DACB"/>
            </a:solidFill>
            <a:prstDash val="solid"/>
          </a:ln>
        </p:spPr>
      </p:sp>
      <p:sp>
        <p:nvSpPr>
          <p:cNvPr id="11" name="Shape 9"/>
          <p:cNvSpPr/>
          <p:nvPr/>
        </p:nvSpPr>
        <p:spPr>
          <a:xfrm>
            <a:off x="685800" y="3154680"/>
            <a:ext cx="1874520" cy="118872"/>
          </a:xfrm>
          <a:prstGeom prst="roundRect">
            <a:avLst>
              <a:gd name="adj" fmla="val 38462"/>
            </a:avLst>
          </a:prstGeom>
          <a:solidFill>
            <a:srgbClr val="2F6B4F"/>
          </a:solidFill>
          <a:ln w="12700">
            <a:solidFill>
              <a:srgbClr val="2F6B4F"/>
            </a:solidFill>
            <a:prstDash val="solid"/>
          </a:ln>
        </p:spPr>
      </p:sp>
      <p:sp>
        <p:nvSpPr>
          <p:cNvPr id="12" name="Text 10"/>
          <p:cNvSpPr txBox="1"/>
          <p:nvPr/>
        </p:nvSpPr>
        <p:spPr>
          <a:xfrm>
            <a:off x="685800" y="3319272"/>
            <a:ext cx="3749040" cy="228600"/>
          </a:xfrm>
          <a:prstGeom prst="rect">
            <a:avLst/>
          </a:prstGeom>
          <a:noFill/>
          <a:ln/>
        </p:spPr>
        <p:txBody>
          <a:bodyPr wrap="square" lIns="0" tIns="0" rIns="0" bIns="0" rtlCol="0" anchor="t"/>
          <a:lstStyle/>
          <a:p>
            <a:pPr indent="0" marL="0">
              <a:buNone/>
            </a:pPr>
            <a:r>
              <a:rPr lang="en-US" sz="1100" dirty="0">
                <a:solidFill>
                  <a:srgbClr val="56615A"/>
                </a:solidFill>
                <a:latin typeface="Calibri" pitchFamily="34" charset="0"/>
                <a:ea typeface="Calibri" pitchFamily="34" charset="-122"/>
                <a:cs typeface="Calibri" pitchFamily="34" charset="-120"/>
              </a:rPr>
              <a:t>Drops the sign of the constant</a:t>
            </a:r>
            <a:endParaRPr lang="en-US" sz="1100" dirty="0"/>
          </a:p>
        </p:txBody>
      </p:sp>
      <p:sp>
        <p:nvSpPr>
          <p:cNvPr id="13" name="Text 11"/>
          <p:cNvSpPr txBox="1"/>
          <p:nvPr/>
        </p:nvSpPr>
        <p:spPr>
          <a:xfrm>
            <a:off x="685800" y="3657600"/>
            <a:ext cx="3749040" cy="228600"/>
          </a:xfrm>
          <a:prstGeom prst="rect">
            <a:avLst/>
          </a:prstGeom>
          <a:noFill/>
          <a:ln/>
        </p:spPr>
        <p:txBody>
          <a:bodyPr wrap="square" lIns="0" tIns="0" rIns="0" bIns="0" rtlCol="0" anchor="t"/>
          <a:lstStyle/>
          <a:p>
            <a:pPr indent="0" marL="0">
              <a:buNone/>
            </a:pPr>
            <a:r>
              <a:rPr lang="en-US" sz="1300" b="1" dirty="0">
                <a:solidFill>
                  <a:srgbClr val="1D2721"/>
                </a:solidFill>
                <a:latin typeface="Calibri" pitchFamily="34" charset="0"/>
                <a:ea typeface="Calibri" pitchFamily="34" charset="-122"/>
                <a:cs typeface="Calibri" pitchFamily="34" charset="-120"/>
              </a:rPr>
              <a:t>Rearranging formulas</a:t>
            </a:r>
            <a:pPr indent="0" marL="0">
              <a:buNone/>
            </a:pPr>
            <a:r>
              <a:rPr lang="en-US" sz="1200" dirty="0">
                <a:solidFill>
                  <a:srgbClr val="56615A"/>
                </a:solidFill>
                <a:latin typeface="Calibri" pitchFamily="34" charset="0"/>
                <a:ea typeface="Calibri" pitchFamily="34" charset="-122"/>
                <a:cs typeface="Calibri" pitchFamily="34" charset="-120"/>
              </a:rPr>
              <a:t>   1 of 8</a:t>
            </a:r>
            <a:endParaRPr lang="en-US" sz="1300" dirty="0"/>
          </a:p>
        </p:txBody>
      </p:sp>
      <p:sp>
        <p:nvSpPr>
          <p:cNvPr id="14" name="Shape 12"/>
          <p:cNvSpPr/>
          <p:nvPr/>
        </p:nvSpPr>
        <p:spPr>
          <a:xfrm>
            <a:off x="685800" y="3931920"/>
            <a:ext cx="3749040" cy="118872"/>
          </a:xfrm>
          <a:prstGeom prst="roundRect">
            <a:avLst>
              <a:gd name="adj" fmla="val 38462"/>
            </a:avLst>
          </a:prstGeom>
          <a:solidFill>
            <a:srgbClr val="E2DACB"/>
          </a:solidFill>
          <a:ln w="12700">
            <a:solidFill>
              <a:srgbClr val="E2DACB"/>
            </a:solidFill>
            <a:prstDash val="solid"/>
          </a:ln>
        </p:spPr>
      </p:sp>
      <p:sp>
        <p:nvSpPr>
          <p:cNvPr id="15" name="Shape 13"/>
          <p:cNvSpPr/>
          <p:nvPr/>
        </p:nvSpPr>
        <p:spPr>
          <a:xfrm>
            <a:off x="685800" y="3931920"/>
            <a:ext cx="937260" cy="118872"/>
          </a:xfrm>
          <a:prstGeom prst="roundRect">
            <a:avLst>
              <a:gd name="adj" fmla="val 38462"/>
            </a:avLst>
          </a:prstGeom>
          <a:solidFill>
            <a:srgbClr val="2F6B4F"/>
          </a:solidFill>
          <a:ln w="12700">
            <a:solidFill>
              <a:srgbClr val="2F6B4F"/>
            </a:solidFill>
            <a:prstDash val="solid"/>
          </a:ln>
        </p:spPr>
      </p:sp>
      <p:sp>
        <p:nvSpPr>
          <p:cNvPr id="16" name="Text 14"/>
          <p:cNvSpPr txBox="1"/>
          <p:nvPr/>
        </p:nvSpPr>
        <p:spPr>
          <a:xfrm>
            <a:off x="685800" y="4096512"/>
            <a:ext cx="3749040" cy="228600"/>
          </a:xfrm>
          <a:prstGeom prst="rect">
            <a:avLst/>
          </a:prstGeom>
          <a:noFill/>
          <a:ln/>
        </p:spPr>
        <p:txBody>
          <a:bodyPr wrap="square" lIns="0" tIns="0" rIns="0" bIns="0" rtlCol="0" anchor="t"/>
          <a:lstStyle/>
          <a:p>
            <a:pPr indent="0" marL="0">
              <a:buNone/>
            </a:pPr>
            <a:r>
              <a:rPr lang="en-US" sz="1100" dirty="0">
                <a:solidFill>
                  <a:srgbClr val="56615A"/>
                </a:solidFill>
                <a:latin typeface="Calibri" pitchFamily="34" charset="0"/>
                <a:ea typeface="Calibri" pitchFamily="34" charset="-122"/>
                <a:cs typeface="Calibri" pitchFamily="34" charset="-120"/>
              </a:rPr>
              <a:t>Moves a term without changing its sign</a:t>
            </a:r>
            <a:endParaRPr lang="en-US" sz="1100" dirty="0"/>
          </a:p>
        </p:txBody>
      </p:sp>
      <p:sp>
        <p:nvSpPr>
          <p:cNvPr id="17" name="Text 15"/>
          <p:cNvSpPr txBox="1"/>
          <p:nvPr/>
        </p:nvSpPr>
        <p:spPr>
          <a:xfrm>
            <a:off x="4983480" y="1371600"/>
            <a:ext cx="3703320" cy="31089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D2721"/>
                </a:solidFill>
                <a:latin typeface="Calibri" pitchFamily="34" charset="0"/>
                <a:ea typeface="Calibri" pitchFamily="34" charset="-122"/>
                <a:cs typeface="Calibri" pitchFamily="34" charset="-120"/>
              </a:rPr>
              <a:t>Students join with a class code: no account, no password, no name</a:t>
            </a:r>
            <a:endParaRPr lang="en-US" sz="1400" dirty="0"/>
          </a:p>
          <a:p>
            <a:pPr marL="177800" indent="-177800">
              <a:spcAft>
                <a:spcPts val="600"/>
              </a:spcAft>
              <a:buSzPct val="100000"/>
              <a:buChar char="•"/>
            </a:pPr>
            <a:r>
              <a:rPr lang="en-US" sz="1400" dirty="0">
                <a:solidFill>
                  <a:srgbClr val="1D2721"/>
                </a:solidFill>
                <a:latin typeface="Calibri" pitchFamily="34" charset="0"/>
                <a:ea typeface="Calibri" pitchFamily="34" charset="-122"/>
                <a:cs typeface="Calibri" pitchFamily="34" charset="-120"/>
              </a:rPr>
              <a:t>A class sees only the outcome (chapter, root gap, mix-up), deleted after 90 days</a:t>
            </a:r>
            <a:endParaRPr lang="en-US" sz="1400" dirty="0"/>
          </a:p>
          <a:p>
            <a:pPr marL="177800" indent="-177800">
              <a:spcAft>
                <a:spcPts val="600"/>
              </a:spcAft>
              <a:buSzPct val="100000"/>
              <a:buChar char="•"/>
            </a:pPr>
            <a:r>
              <a:rPr lang="en-US" sz="1400" dirty="0">
                <a:solidFill>
                  <a:srgbClr val="1D2721"/>
                </a:solidFill>
                <a:latin typeface="Calibri" pitchFamily="34" charset="0"/>
                <a:ea typeface="Calibri" pitchFamily="34" charset="-122"/>
                <a:cs typeface="Calibri" pitchFamily="34" charset="-120"/>
              </a:rPr>
              <a:t>Reports stay on the device; share links carry no answers</a:t>
            </a:r>
            <a:endParaRPr lang="en-US" sz="1400" dirty="0"/>
          </a:p>
          <a:p>
            <a:pPr marL="177800" indent="-177800">
              <a:spcAft>
                <a:spcPts val="600"/>
              </a:spcAft>
              <a:buSzPct val="100000"/>
              <a:buChar char="•"/>
            </a:pPr>
            <a:r>
              <a:rPr lang="en-US" sz="1400" dirty="0">
                <a:solidFill>
                  <a:srgbClr val="1D2721"/>
                </a:solidFill>
                <a:latin typeface="Calibri" pitchFamily="34" charset="0"/>
                <a:ea typeface="Calibri" pitchFamily="34" charset="-122"/>
                <a:cs typeface="Calibri" pitchFamily="34" charset="-120"/>
              </a:rPr>
              <a:t>Keyboard use, screen-reader maths, dark mode, WCAG AA contrast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15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Next: a classroom pilot with Karnataka students</a:t>
            </a:r>
            <a:endParaRPr lang="en-US" sz="2800" dirty="0"/>
          </a:p>
        </p:txBody>
      </p:sp>
      <p:sp>
        <p:nvSpPr>
          <p:cNvPr id="3" name="Text 1"/>
          <p:cNvSpPr txBox="1"/>
          <p:nvPr/>
        </p:nvSpPr>
        <p:spPr>
          <a:xfrm>
            <a:off x="457200" y="1143000"/>
            <a:ext cx="3840480" cy="365760"/>
          </a:xfrm>
          <a:prstGeom prst="rect">
            <a:avLst/>
          </a:prstGeom>
          <a:noFill/>
          <a:ln/>
        </p:spPr>
        <p:txBody>
          <a:bodyPr wrap="square" lIns="0" tIns="0" rIns="0" bIns="0" rtlCol="0" anchor="ctr"/>
          <a:lstStyle/>
          <a:p>
            <a:pPr indent="0" marL="0">
              <a:buNone/>
            </a:pPr>
            <a:r>
              <a:rPr lang="en-US" sz="1600" b="1" dirty="0">
                <a:solidFill>
                  <a:srgbClr val="82C9A1"/>
                </a:solidFill>
                <a:latin typeface="Calibri" pitchFamily="34" charset="0"/>
                <a:ea typeface="Calibri" pitchFamily="34" charset="-122"/>
                <a:cs typeface="Calibri" pitchFamily="34" charset="-120"/>
              </a:rPr>
              <a:t>Honest limits</a:t>
            </a:r>
            <a:endParaRPr lang="en-US" sz="1600" dirty="0"/>
          </a:p>
        </p:txBody>
      </p:sp>
      <p:sp>
        <p:nvSpPr>
          <p:cNvPr id="4" name="Text 2"/>
          <p:cNvSpPr txBox="1"/>
          <p:nvPr/>
        </p:nvSpPr>
        <p:spPr>
          <a:xfrm>
            <a:off x="457200" y="1554480"/>
            <a:ext cx="3840480" cy="21945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E7ECE8"/>
                </a:solidFill>
                <a:latin typeface="Calibri" pitchFamily="34" charset="0"/>
                <a:ea typeface="Calibri" pitchFamily="34" charset="-122"/>
                <a:cs typeface="Calibri" pitchFamily="34" charset="-120"/>
              </a:rPr>
              <a:t>Evidence so far is from simulation, not classrooms</a:t>
            </a:r>
            <a:endParaRPr lang="en-US" sz="1400" dirty="0"/>
          </a:p>
          <a:p>
            <a:pPr marL="177800" indent="-177800">
              <a:spcAft>
                <a:spcPts val="600"/>
              </a:spcAft>
              <a:buSzPct val="100000"/>
              <a:buChar char="•"/>
            </a:pPr>
            <a:r>
              <a:rPr lang="en-US" sz="1400" dirty="0">
                <a:solidFill>
                  <a:srgbClr val="E7ECE8"/>
                </a:solidFill>
                <a:latin typeface="Calibri" pitchFamily="34" charset="0"/>
                <a:ea typeface="Calibri" pitchFamily="34" charset="-122"/>
                <a:cs typeface="Calibri" pitchFamily="34" charset="-120"/>
              </a:rPr>
              <a:t>Guessing remains: about 1 in 7 diagnoses misses the true root first</a:t>
            </a:r>
            <a:endParaRPr lang="en-US" sz="1400" dirty="0"/>
          </a:p>
          <a:p>
            <a:pPr marL="177800" indent="-177800">
              <a:spcAft>
                <a:spcPts val="600"/>
              </a:spcAft>
              <a:buSzPct val="100000"/>
              <a:buChar char="•"/>
            </a:pPr>
            <a:r>
              <a:rPr lang="en-US" sz="1400" dirty="0">
                <a:solidFill>
                  <a:srgbClr val="E7ECE8"/>
                </a:solidFill>
                <a:latin typeface="Calibri" pitchFamily="34" charset="0"/>
                <a:ea typeface="Calibri" pitchFamily="34" charset="-122"/>
                <a:cs typeface="Calibri" pitchFamily="34" charset="-120"/>
              </a:rPr>
              <a:t>Five hand-checked chapters; other topics rely on AI</a:t>
            </a:r>
            <a:endParaRPr lang="en-US" sz="1400" dirty="0"/>
          </a:p>
          <a:p>
            <a:pPr marL="177800" indent="-177800">
              <a:spcAft>
                <a:spcPts val="600"/>
              </a:spcAft>
              <a:buSzPct val="100000"/>
              <a:buChar char="•"/>
            </a:pPr>
            <a:r>
              <a:rPr lang="en-US" sz="1400" dirty="0">
                <a:solidFill>
                  <a:srgbClr val="E7ECE8"/>
                </a:solidFill>
                <a:latin typeface="Calibri" pitchFamily="34" charset="0"/>
                <a:ea typeface="Calibri" pitchFamily="34" charset="-122"/>
                <a:cs typeface="Calibri" pitchFamily="34" charset="-120"/>
              </a:rPr>
              <a:t>English only for now</a:t>
            </a:r>
            <a:endParaRPr lang="en-US" sz="1400" dirty="0"/>
          </a:p>
        </p:txBody>
      </p:sp>
      <p:sp>
        <p:nvSpPr>
          <p:cNvPr id="5" name="Text 3"/>
          <p:cNvSpPr txBox="1"/>
          <p:nvPr/>
        </p:nvSpPr>
        <p:spPr>
          <a:xfrm>
            <a:off x="4846320" y="1143000"/>
            <a:ext cx="3840480" cy="365760"/>
          </a:xfrm>
          <a:prstGeom prst="rect">
            <a:avLst/>
          </a:prstGeom>
          <a:noFill/>
          <a:ln/>
        </p:spPr>
        <p:txBody>
          <a:bodyPr wrap="square" lIns="0" tIns="0" rIns="0" bIns="0" rtlCol="0" anchor="ctr"/>
          <a:lstStyle/>
          <a:p>
            <a:pPr indent="0" marL="0">
              <a:buNone/>
            </a:pPr>
            <a:r>
              <a:rPr lang="en-US" sz="1600" b="1" dirty="0">
                <a:solidFill>
                  <a:srgbClr val="82C9A1"/>
                </a:solidFill>
                <a:latin typeface="Calibri" pitchFamily="34" charset="0"/>
                <a:ea typeface="Calibri" pitchFamily="34" charset="-122"/>
                <a:cs typeface="Calibri" pitchFamily="34" charset="-120"/>
              </a:rPr>
              <a:t>With another month</a:t>
            </a:r>
            <a:endParaRPr lang="en-US" sz="1600" dirty="0"/>
          </a:p>
        </p:txBody>
      </p:sp>
      <p:sp>
        <p:nvSpPr>
          <p:cNvPr id="6" name="Text 4"/>
          <p:cNvSpPr txBox="1"/>
          <p:nvPr/>
        </p:nvSpPr>
        <p:spPr>
          <a:xfrm>
            <a:off x="4846320" y="1554480"/>
            <a:ext cx="3840480" cy="21945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E7ECE8"/>
                </a:solidFill>
                <a:latin typeface="Calibri" pitchFamily="34" charset="0"/>
                <a:ea typeface="Calibri" pitchFamily="34" charset="-122"/>
                <a:cs typeface="Calibri" pitchFamily="34" charset="-120"/>
              </a:rPr>
              <a:t>Pilot in classrooms, compared with teachers' judgement</a:t>
            </a:r>
            <a:endParaRPr lang="en-US" sz="1400" dirty="0"/>
          </a:p>
          <a:p>
            <a:pPr marL="177800" indent="-177800">
              <a:spcAft>
                <a:spcPts val="600"/>
              </a:spcAft>
              <a:buSzPct val="100000"/>
              <a:buChar char="•"/>
            </a:pPr>
            <a:r>
              <a:rPr lang="en-US" sz="1400" dirty="0">
                <a:solidFill>
                  <a:srgbClr val="E7ECE8"/>
                </a:solidFill>
                <a:latin typeface="Calibri" pitchFamily="34" charset="0"/>
                <a:ea typeface="Calibri" pitchFamily="34" charset="-122"/>
                <a:cs typeface="Calibri" pitchFamily="34" charset="-120"/>
              </a:rPr>
              <a:t>Kannada, and more hand-checked chapters</a:t>
            </a:r>
            <a:endParaRPr lang="en-US" sz="1400" dirty="0"/>
          </a:p>
          <a:p>
            <a:pPr marL="177800" indent="-177800">
              <a:spcAft>
                <a:spcPts val="600"/>
              </a:spcAft>
              <a:buSzPct val="100000"/>
              <a:buChar char="•"/>
            </a:pPr>
            <a:r>
              <a:rPr lang="en-US" sz="1400" dirty="0">
                <a:solidFill>
                  <a:srgbClr val="E7ECE8"/>
                </a:solidFill>
                <a:latin typeface="Calibri" pitchFamily="34" charset="0"/>
                <a:ea typeface="Calibri" pitchFamily="34" charset="-122"/>
                <a:cs typeface="Calibri" pitchFamily="34" charset="-120"/>
              </a:rPr>
              <a:t>Teachers assign a chapter and track gaps shrinking</a:t>
            </a:r>
            <a:endParaRPr lang="en-US" sz="1400" dirty="0"/>
          </a:p>
          <a:p>
            <a:pPr marL="177800" indent="-177800">
              <a:spcAft>
                <a:spcPts val="600"/>
              </a:spcAft>
              <a:buSzPct val="100000"/>
              <a:buChar char="•"/>
            </a:pPr>
            <a:r>
              <a:rPr lang="en-US" sz="1400" dirty="0">
                <a:solidFill>
                  <a:srgbClr val="E7ECE8"/>
                </a:solidFill>
                <a:latin typeface="Calibri" pitchFamily="34" charset="0"/>
                <a:ea typeface="Calibri" pitchFamily="34" charset="-122"/>
                <a:cs typeface="Calibri" pitchFamily="34" charset="-120"/>
              </a:rPr>
              <a:t>Offline support for low-connectivity schools</a:t>
            </a:r>
            <a:endParaRPr lang="en-US" sz="1400" dirty="0"/>
          </a:p>
        </p:txBody>
      </p:sp>
      <p:sp>
        <p:nvSpPr>
          <p:cNvPr id="7" name="Text 5"/>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dirty="0">
                <a:solidFill>
                  <a:srgbClr val="82C9A1"/>
                </a:solidFill>
                <a:latin typeface="Calibri" pitchFamily="34" charset="0"/>
                <a:ea typeface="Calibri" pitchFamily="34" charset="-122"/>
                <a:cs typeface="Calibri" pitchFamily="34" charset="-120"/>
              </a:rPr>
              <a:t>Try it: </a:t>
            </a:r>
            <a:pPr indent="0" marL="0">
              <a:buNone/>
            </a:pPr>
            <a:r>
              <a:rPr lang="en-US" sz="1300" b="1"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craft-n-code-karnataka.vercel.app</a:t>
            </a:r>
            <a:pPr indent="0" marL="0">
              <a:buNone/>
            </a:pPr>
            <a:r>
              <a:rPr lang="en-US" sz="1300" dirty="0">
                <a:solidFill>
                  <a:srgbClr val="82C9A1"/>
                </a:solidFill>
                <a:latin typeface="Calibri" pitchFamily="34" charset="0"/>
                <a:ea typeface="Calibri" pitchFamily="34" charset="-122"/>
                <a:cs typeface="Calibri" pitchFamily="34" charset="-120"/>
              </a:rPr>
              <a:t>    Code: </a:t>
            </a:r>
            <a:pPr indent="0" marL="0">
              <a:buNone/>
            </a:pPr>
            <a:r>
              <a:rPr lang="en-US" sz="13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github.com/aditya-sridhar-git/Craft-N-Code-Karnataka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Taproot: find the real reason you're stuck</dc:title>
  <dc:subject>PptxGenJS Presentation</dc:subject>
  <dc:creator>Team Taproot</dc:creator>
  <cp:lastModifiedBy>Team Taproot</cp:lastModifiedBy>
  <cp:revision>1</cp:revision>
  <dcterms:created xsi:type="dcterms:W3CDTF">2026-10-18T14:52:10Z</dcterms:created>
  <dcterms:modified xsi:type="dcterms:W3CDTF">2026-10-18T14:52:10Z</dcterms:modified>
</cp:coreProperties>
</file>